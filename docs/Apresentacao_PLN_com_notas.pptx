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329" autoAdjust="0"/>
  </p:normalViewPr>
  <p:slideViewPr>
    <p:cSldViewPr snapToGrid="0" snapToObjects="1">
      <p:cViewPr varScale="1">
        <p:scale>
          <a:sx n="86" d="100"/>
          <a:sy n="86" d="100"/>
        </p:scale>
        <p:origin x="63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911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Bom dia/boa tarde. Vamos apresentar nosso projeto de classificacao automatica de Projetos de Lei por tema usando BERTimbau, com um segundo experimento sobre transferencia de dominio para discursos. Somos tres integrantes, modalidade PLN no setor publico. (~30s)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O problema e concreto: o CEDI classifica manualmente um volume enorme de proposicoes. Queremos saber se da para automatizar isso lendo so a ementa. Ponto-chave: cada PL costuma ter varios temas, entao e classificacao MULTIRROTULO, nao escolha de um unico tema. E nosso diferencial e ir alem das ementas e testar nos discursos. (~1min)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Nossa </a:t>
            </a:r>
            <a:r>
              <a:rPr dirty="0" err="1"/>
              <a:t>fundamentacao</a:t>
            </a:r>
            <a:r>
              <a:rPr dirty="0"/>
              <a:t> </a:t>
            </a:r>
            <a:r>
              <a:rPr dirty="0" err="1"/>
              <a:t>tem</a:t>
            </a:r>
            <a:r>
              <a:rPr dirty="0"/>
              <a:t> </a:t>
            </a:r>
            <a:r>
              <a:rPr dirty="0" err="1"/>
              <a:t>dois</a:t>
            </a:r>
            <a:r>
              <a:rPr dirty="0"/>
              <a:t> </a:t>
            </a:r>
            <a:r>
              <a:rPr dirty="0" err="1"/>
              <a:t>eixos</a:t>
            </a:r>
            <a:r>
              <a:rPr dirty="0"/>
              <a:t>. Primeiro a </a:t>
            </a:r>
            <a:r>
              <a:rPr dirty="0" err="1"/>
              <a:t>tecnica</a:t>
            </a:r>
            <a:r>
              <a:rPr dirty="0"/>
              <a:t>: a </a:t>
            </a:r>
            <a:r>
              <a:rPr dirty="0" err="1"/>
              <a:t>evolucao</a:t>
            </a:r>
            <a:r>
              <a:rPr dirty="0"/>
              <a:t> do TF-IDF ate </a:t>
            </a:r>
            <a:r>
              <a:rPr dirty="0" err="1"/>
              <a:t>os</a:t>
            </a:r>
            <a:r>
              <a:rPr dirty="0"/>
              <a:t> Transformers, BERT e o transfer learning, </a:t>
            </a:r>
            <a:r>
              <a:rPr dirty="0" err="1"/>
              <a:t>chegando</a:t>
            </a:r>
            <a:r>
              <a:rPr dirty="0"/>
              <a:t> </a:t>
            </a:r>
            <a:r>
              <a:rPr dirty="0" err="1"/>
              <a:t>ao</a:t>
            </a:r>
            <a:r>
              <a:rPr dirty="0"/>
              <a:t> </a:t>
            </a:r>
            <a:r>
              <a:rPr dirty="0" err="1"/>
              <a:t>BERTimbau</a:t>
            </a:r>
            <a:r>
              <a:rPr dirty="0"/>
              <a:t>, </a:t>
            </a:r>
            <a:r>
              <a:rPr dirty="0" err="1"/>
              <a:t>que</a:t>
            </a:r>
            <a:r>
              <a:rPr dirty="0"/>
              <a:t> e o BERT </a:t>
            </a:r>
            <a:r>
              <a:rPr dirty="0" err="1"/>
              <a:t>em</a:t>
            </a:r>
            <a:r>
              <a:rPr dirty="0"/>
              <a:t> </a:t>
            </a:r>
            <a:r>
              <a:rPr dirty="0" err="1"/>
              <a:t>portugues</a:t>
            </a:r>
            <a:r>
              <a:rPr dirty="0"/>
              <a:t> — </a:t>
            </a:r>
            <a:r>
              <a:rPr dirty="0" err="1"/>
              <a:t>por</a:t>
            </a:r>
            <a:r>
              <a:rPr dirty="0"/>
              <a:t> </a:t>
            </a:r>
            <a:r>
              <a:rPr dirty="0" err="1"/>
              <a:t>isso</a:t>
            </a:r>
            <a:r>
              <a:rPr dirty="0"/>
              <a:t> </a:t>
            </a:r>
            <a:r>
              <a:rPr dirty="0" err="1"/>
              <a:t>ele</a:t>
            </a:r>
            <a:r>
              <a:rPr dirty="0"/>
              <a:t> </a:t>
            </a:r>
            <a:r>
              <a:rPr dirty="0" err="1"/>
              <a:t>foi</a:t>
            </a:r>
            <a:r>
              <a:rPr dirty="0"/>
              <a:t> </a:t>
            </a:r>
            <a:r>
              <a:rPr dirty="0" err="1"/>
              <a:t>nossa</a:t>
            </a:r>
            <a:r>
              <a:rPr dirty="0"/>
              <a:t> </a:t>
            </a:r>
            <a:r>
              <a:rPr dirty="0" err="1"/>
              <a:t>escolha</a:t>
            </a:r>
            <a:r>
              <a:rPr dirty="0"/>
              <a:t>. Segundo o </a:t>
            </a:r>
            <a:r>
              <a:rPr dirty="0" err="1"/>
              <a:t>dominio</a:t>
            </a:r>
            <a:r>
              <a:rPr dirty="0"/>
              <a:t>: </a:t>
            </a:r>
            <a:r>
              <a:rPr dirty="0" err="1"/>
              <a:t>trabalhos</a:t>
            </a:r>
            <a:r>
              <a:rPr dirty="0"/>
              <a:t> de PLN </a:t>
            </a:r>
            <a:r>
              <a:rPr dirty="0" err="1"/>
              <a:t>legislativo</a:t>
            </a:r>
            <a:r>
              <a:rPr dirty="0"/>
              <a:t> </a:t>
            </a:r>
            <a:r>
              <a:rPr dirty="0" err="1"/>
              <a:t>brasileiro</a:t>
            </a:r>
            <a:r>
              <a:rPr dirty="0"/>
              <a:t>, o </a:t>
            </a:r>
            <a:r>
              <a:rPr dirty="0" err="1"/>
              <a:t>projeto</a:t>
            </a:r>
            <a:r>
              <a:rPr dirty="0"/>
              <a:t> Ulysses, o </a:t>
            </a:r>
            <a:r>
              <a:rPr dirty="0" err="1"/>
              <a:t>problema</a:t>
            </a:r>
            <a:r>
              <a:rPr dirty="0"/>
              <a:t> do </a:t>
            </a:r>
            <a:r>
              <a:rPr dirty="0" err="1"/>
              <a:t>limite</a:t>
            </a:r>
            <a:r>
              <a:rPr dirty="0"/>
              <a:t> de 512 tokens </a:t>
            </a:r>
            <a:r>
              <a:rPr dirty="0" err="1"/>
              <a:t>em</a:t>
            </a:r>
            <a:r>
              <a:rPr dirty="0"/>
              <a:t> </a:t>
            </a:r>
            <a:r>
              <a:rPr dirty="0" err="1"/>
              <a:t>textos</a:t>
            </a:r>
            <a:r>
              <a:rPr dirty="0"/>
              <a:t> </a:t>
            </a:r>
            <a:r>
              <a:rPr dirty="0" err="1"/>
              <a:t>longos</a:t>
            </a:r>
            <a:r>
              <a:rPr dirty="0"/>
              <a:t>, e o LLM-as-a-judge </a:t>
            </a:r>
            <a:r>
              <a:rPr dirty="0" err="1"/>
              <a:t>que</a:t>
            </a:r>
            <a:r>
              <a:rPr dirty="0"/>
              <a:t> </a:t>
            </a:r>
            <a:r>
              <a:rPr dirty="0" err="1"/>
              <a:t>usamos</a:t>
            </a:r>
            <a:r>
              <a:rPr dirty="0"/>
              <a:t> para </a:t>
            </a:r>
            <a:r>
              <a:rPr dirty="0" err="1"/>
              <a:t>avaliar</a:t>
            </a:r>
            <a:r>
              <a:rPr dirty="0"/>
              <a:t> </a:t>
            </a:r>
            <a:r>
              <a:rPr dirty="0" err="1"/>
              <a:t>os</a:t>
            </a:r>
            <a:r>
              <a:rPr dirty="0"/>
              <a:t> </a:t>
            </a:r>
            <a:r>
              <a:rPr dirty="0" err="1"/>
              <a:t>discursos</a:t>
            </a:r>
            <a:r>
              <a:rPr dirty="0"/>
              <a:t>. (~1min)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Restricao do professor: </a:t>
            </a:r>
            <a:r>
              <a:rPr dirty="0" err="1"/>
              <a:t>os</a:t>
            </a:r>
            <a:r>
              <a:rPr dirty="0"/>
              <a:t> dados </a:t>
            </a:r>
            <a:r>
              <a:rPr dirty="0" err="1"/>
              <a:t>tinham</a:t>
            </a:r>
            <a:r>
              <a:rPr dirty="0"/>
              <a:t> </a:t>
            </a:r>
            <a:r>
              <a:rPr dirty="0" err="1"/>
              <a:t>que</a:t>
            </a:r>
            <a:r>
              <a:rPr dirty="0"/>
              <a:t> ser </a:t>
            </a:r>
            <a:r>
              <a:rPr dirty="0" err="1"/>
              <a:t>coletados</a:t>
            </a:r>
            <a:r>
              <a:rPr dirty="0"/>
              <a:t> </a:t>
            </a:r>
            <a:r>
              <a:rPr dirty="0" err="1"/>
              <a:t>por</a:t>
            </a:r>
            <a:r>
              <a:rPr dirty="0"/>
              <a:t> </a:t>
            </a:r>
            <a:r>
              <a:rPr dirty="0" err="1"/>
              <a:t>nos</a:t>
            </a:r>
            <a:r>
              <a:rPr dirty="0"/>
              <a:t>, nada de base </a:t>
            </a:r>
            <a:r>
              <a:rPr dirty="0" err="1"/>
              <a:t>pronta</a:t>
            </a:r>
            <a:r>
              <a:rPr dirty="0"/>
              <a:t>. </a:t>
            </a:r>
            <a:r>
              <a:rPr dirty="0" err="1"/>
              <a:t>Coletamos</a:t>
            </a:r>
            <a:r>
              <a:rPr dirty="0"/>
              <a:t> da API da Camara, com manifesto e hash para ser </a:t>
            </a:r>
            <a:r>
              <a:rPr dirty="0" err="1"/>
              <a:t>reprodutivel</a:t>
            </a:r>
            <a:r>
              <a:rPr dirty="0"/>
              <a:t>: 19 mil PLs de 2023 a 2026. A entrada e a </a:t>
            </a:r>
            <a:r>
              <a:rPr dirty="0" err="1"/>
              <a:t>ementa</a:t>
            </a:r>
            <a:r>
              <a:rPr dirty="0"/>
              <a:t>, o </a:t>
            </a:r>
            <a:r>
              <a:rPr dirty="0" err="1"/>
              <a:t>rotulo</a:t>
            </a:r>
            <a:r>
              <a:rPr dirty="0"/>
              <a:t> </a:t>
            </a:r>
            <a:r>
              <a:rPr dirty="0" err="1"/>
              <a:t>sao</a:t>
            </a:r>
            <a:r>
              <a:rPr dirty="0"/>
              <a:t> </a:t>
            </a:r>
            <a:r>
              <a:rPr dirty="0" err="1"/>
              <a:t>os</a:t>
            </a:r>
            <a:r>
              <a:rPr dirty="0"/>
              <a:t> 32 </a:t>
            </a:r>
            <a:r>
              <a:rPr dirty="0" err="1"/>
              <a:t>temas</a:t>
            </a:r>
            <a:r>
              <a:rPr dirty="0"/>
              <a:t> </a:t>
            </a:r>
            <a:r>
              <a:rPr dirty="0" err="1"/>
              <a:t>oficiais</a:t>
            </a:r>
            <a:r>
              <a:rPr dirty="0"/>
              <a:t> — </a:t>
            </a:r>
            <a:r>
              <a:rPr dirty="0" err="1"/>
              <a:t>que</a:t>
            </a:r>
            <a:r>
              <a:rPr dirty="0"/>
              <a:t> ja </a:t>
            </a:r>
            <a:r>
              <a:rPr dirty="0" err="1"/>
              <a:t>vem</a:t>
            </a:r>
            <a:r>
              <a:rPr dirty="0"/>
              <a:t> da API, </a:t>
            </a:r>
            <a:r>
              <a:rPr dirty="0" err="1"/>
              <a:t>entao</a:t>
            </a:r>
            <a:r>
              <a:rPr dirty="0"/>
              <a:t> nao </a:t>
            </a:r>
            <a:r>
              <a:rPr dirty="0" err="1"/>
              <a:t>anotamos</a:t>
            </a:r>
            <a:r>
              <a:rPr dirty="0"/>
              <a:t> a </a:t>
            </a:r>
            <a:r>
              <a:rPr dirty="0" err="1"/>
              <a:t>mao</a:t>
            </a:r>
            <a:r>
              <a:rPr dirty="0"/>
              <a:t>. </a:t>
            </a:r>
            <a:r>
              <a:rPr dirty="0" err="1"/>
              <a:t>Usamos</a:t>
            </a:r>
            <a:r>
              <a:rPr dirty="0"/>
              <a:t> so a </a:t>
            </a:r>
            <a:r>
              <a:rPr dirty="0" err="1"/>
              <a:t>ementa</a:t>
            </a:r>
            <a:r>
              <a:rPr dirty="0"/>
              <a:t> para </a:t>
            </a:r>
            <a:r>
              <a:rPr dirty="0" err="1"/>
              <a:t>evitar</a:t>
            </a:r>
            <a:r>
              <a:rPr dirty="0"/>
              <a:t> </a:t>
            </a:r>
            <a:r>
              <a:rPr dirty="0" err="1"/>
              <a:t>vazamento</a:t>
            </a:r>
            <a:r>
              <a:rPr dirty="0"/>
              <a:t> das </a:t>
            </a:r>
            <a:r>
              <a:rPr dirty="0" err="1"/>
              <a:t>palavras-chave</a:t>
            </a:r>
            <a:r>
              <a:rPr dirty="0"/>
              <a:t>. A grande </a:t>
            </a:r>
            <a:r>
              <a:rPr dirty="0" err="1"/>
              <a:t>limitacao</a:t>
            </a:r>
            <a:r>
              <a:rPr dirty="0"/>
              <a:t> e a cauda longa: 4 </a:t>
            </a:r>
            <a:r>
              <a:rPr dirty="0" err="1"/>
              <a:t>temas</a:t>
            </a:r>
            <a:r>
              <a:rPr dirty="0"/>
              <a:t> </a:t>
            </a:r>
            <a:r>
              <a:rPr dirty="0" err="1"/>
              <a:t>tem</a:t>
            </a:r>
            <a:r>
              <a:rPr dirty="0"/>
              <a:t> </a:t>
            </a:r>
            <a:r>
              <a:rPr dirty="0" err="1"/>
              <a:t>pouquissimos</a:t>
            </a:r>
            <a:r>
              <a:rPr dirty="0"/>
              <a:t> </a:t>
            </a:r>
            <a:r>
              <a:rPr dirty="0" err="1"/>
              <a:t>exemplos</a:t>
            </a:r>
            <a:r>
              <a:rPr dirty="0"/>
              <a:t>. (~1min)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err="1"/>
              <a:t>Comparamos</a:t>
            </a:r>
            <a:r>
              <a:rPr dirty="0"/>
              <a:t> </a:t>
            </a:r>
            <a:r>
              <a:rPr dirty="0" err="1"/>
              <a:t>dois</a:t>
            </a:r>
            <a:r>
              <a:rPr dirty="0"/>
              <a:t> </a:t>
            </a:r>
            <a:r>
              <a:rPr dirty="0" err="1"/>
              <a:t>modelos</a:t>
            </a:r>
            <a:r>
              <a:rPr dirty="0"/>
              <a:t> no </a:t>
            </a:r>
            <a:r>
              <a:rPr dirty="0" err="1"/>
              <a:t>mesmo</a:t>
            </a:r>
            <a:r>
              <a:rPr dirty="0"/>
              <a:t> conjunto. O baseline e TF-IDF com </a:t>
            </a:r>
            <a:r>
              <a:rPr dirty="0" err="1"/>
              <a:t>regressao</a:t>
            </a:r>
            <a:r>
              <a:rPr dirty="0"/>
              <a:t> </a:t>
            </a:r>
            <a:r>
              <a:rPr dirty="0" err="1"/>
              <a:t>logistica</a:t>
            </a:r>
            <a:r>
              <a:rPr dirty="0"/>
              <a:t>, um </a:t>
            </a:r>
            <a:r>
              <a:rPr dirty="0" err="1"/>
              <a:t>por</a:t>
            </a:r>
            <a:r>
              <a:rPr dirty="0"/>
              <a:t> </a:t>
            </a:r>
            <a:r>
              <a:rPr dirty="0" err="1"/>
              <a:t>tema</a:t>
            </a:r>
            <a:r>
              <a:rPr dirty="0"/>
              <a:t>. O </a:t>
            </a:r>
            <a:r>
              <a:rPr dirty="0" err="1"/>
              <a:t>modelo</a:t>
            </a:r>
            <a:r>
              <a:rPr dirty="0"/>
              <a:t> profundo e o </a:t>
            </a:r>
            <a:r>
              <a:rPr dirty="0" err="1"/>
              <a:t>BERTimbau</a:t>
            </a:r>
            <a:r>
              <a:rPr dirty="0"/>
              <a:t> </a:t>
            </a:r>
            <a:r>
              <a:rPr dirty="0" err="1"/>
              <a:t>ajustado</a:t>
            </a:r>
            <a:r>
              <a:rPr dirty="0"/>
              <a:t>: </a:t>
            </a:r>
            <a:r>
              <a:rPr dirty="0" err="1"/>
              <a:t>como</a:t>
            </a:r>
            <a:r>
              <a:rPr dirty="0"/>
              <a:t> e </a:t>
            </a:r>
            <a:r>
              <a:rPr dirty="0" err="1"/>
              <a:t>multirrotulo</a:t>
            </a:r>
            <a:r>
              <a:rPr dirty="0"/>
              <a:t>, a </a:t>
            </a:r>
            <a:r>
              <a:rPr dirty="0" err="1"/>
              <a:t>saida</a:t>
            </a:r>
            <a:r>
              <a:rPr dirty="0"/>
              <a:t> </a:t>
            </a:r>
            <a:r>
              <a:rPr dirty="0" err="1"/>
              <a:t>tem</a:t>
            </a:r>
            <a:r>
              <a:rPr dirty="0"/>
              <a:t> 32 </a:t>
            </a:r>
            <a:r>
              <a:rPr dirty="0" err="1"/>
              <a:t>neuronios</a:t>
            </a:r>
            <a:r>
              <a:rPr dirty="0"/>
              <a:t> com </a:t>
            </a:r>
            <a:r>
              <a:rPr dirty="0" err="1"/>
              <a:t>sigmoide</a:t>
            </a:r>
            <a:r>
              <a:rPr dirty="0"/>
              <a:t> e </a:t>
            </a:r>
            <a:r>
              <a:rPr dirty="0" err="1"/>
              <a:t>perda</a:t>
            </a:r>
            <a:r>
              <a:rPr dirty="0"/>
              <a:t> BCE — </a:t>
            </a:r>
            <a:r>
              <a:rPr dirty="0" err="1"/>
              <a:t>cada</a:t>
            </a:r>
            <a:r>
              <a:rPr dirty="0"/>
              <a:t> </a:t>
            </a:r>
            <a:r>
              <a:rPr dirty="0" err="1"/>
              <a:t>tema</a:t>
            </a:r>
            <a:r>
              <a:rPr dirty="0"/>
              <a:t> e um sim/nao </a:t>
            </a:r>
            <a:r>
              <a:rPr dirty="0" err="1"/>
              <a:t>independente</a:t>
            </a:r>
            <a:r>
              <a:rPr dirty="0"/>
              <a:t>. </a:t>
            </a:r>
            <a:r>
              <a:rPr dirty="0" err="1"/>
              <a:t>Os</a:t>
            </a:r>
            <a:r>
              <a:rPr dirty="0"/>
              <a:t> </a:t>
            </a:r>
            <a:r>
              <a:rPr dirty="0" err="1"/>
              <a:t>dois</a:t>
            </a:r>
            <a:r>
              <a:rPr dirty="0"/>
              <a:t> </a:t>
            </a:r>
            <a:r>
              <a:rPr dirty="0" err="1"/>
              <a:t>usam</a:t>
            </a:r>
            <a:r>
              <a:rPr dirty="0"/>
              <a:t> o </a:t>
            </a:r>
            <a:r>
              <a:rPr dirty="0" err="1"/>
              <a:t>mesmo</a:t>
            </a:r>
            <a:r>
              <a:rPr dirty="0"/>
              <a:t> split </a:t>
            </a:r>
            <a:r>
              <a:rPr dirty="0" err="1"/>
              <a:t>estratificado</a:t>
            </a:r>
            <a:r>
              <a:rPr dirty="0"/>
              <a:t> e o </a:t>
            </a:r>
            <a:r>
              <a:rPr dirty="0" err="1"/>
              <a:t>mesmo</a:t>
            </a:r>
            <a:r>
              <a:rPr dirty="0"/>
              <a:t> </a:t>
            </a:r>
            <a:r>
              <a:rPr dirty="0" err="1"/>
              <a:t>ajuste</a:t>
            </a:r>
            <a:r>
              <a:rPr dirty="0"/>
              <a:t> de </a:t>
            </a:r>
            <a:r>
              <a:rPr dirty="0" err="1"/>
              <a:t>limiar</a:t>
            </a:r>
            <a:r>
              <a:rPr dirty="0"/>
              <a:t> </a:t>
            </a:r>
            <a:r>
              <a:rPr dirty="0" err="1"/>
              <a:t>por</a:t>
            </a:r>
            <a:r>
              <a:rPr dirty="0"/>
              <a:t> </a:t>
            </a:r>
            <a:r>
              <a:rPr dirty="0" err="1"/>
              <a:t>tema</a:t>
            </a:r>
            <a:r>
              <a:rPr dirty="0"/>
              <a:t>, para </a:t>
            </a:r>
            <a:r>
              <a:rPr dirty="0" err="1"/>
              <a:t>uma</a:t>
            </a:r>
            <a:r>
              <a:rPr dirty="0"/>
              <a:t> </a:t>
            </a:r>
            <a:r>
              <a:rPr dirty="0" err="1"/>
              <a:t>comparacao</a:t>
            </a:r>
            <a:r>
              <a:rPr dirty="0"/>
              <a:t> </a:t>
            </a:r>
            <a:r>
              <a:rPr dirty="0" err="1"/>
              <a:t>justa</a:t>
            </a:r>
            <a:r>
              <a:rPr dirty="0"/>
              <a:t>. A </a:t>
            </a:r>
            <a:r>
              <a:rPr dirty="0" err="1"/>
              <a:t>figura</a:t>
            </a:r>
            <a:r>
              <a:rPr dirty="0"/>
              <a:t> </a:t>
            </a:r>
            <a:r>
              <a:rPr dirty="0" err="1"/>
              <a:t>mostra</a:t>
            </a:r>
            <a:r>
              <a:rPr dirty="0"/>
              <a:t> o </a:t>
            </a:r>
            <a:r>
              <a:rPr dirty="0" err="1"/>
              <a:t>fluxo</a:t>
            </a:r>
            <a:r>
              <a:rPr dirty="0"/>
              <a:t>: </a:t>
            </a:r>
            <a:r>
              <a:rPr dirty="0" err="1"/>
              <a:t>ementa</a:t>
            </a:r>
            <a:r>
              <a:rPr dirty="0"/>
              <a:t> → </a:t>
            </a:r>
            <a:r>
              <a:rPr dirty="0" err="1"/>
              <a:t>tokenizacao</a:t>
            </a:r>
            <a:r>
              <a:rPr dirty="0"/>
              <a:t> → </a:t>
            </a:r>
            <a:r>
              <a:rPr dirty="0" err="1"/>
              <a:t>BERTimbau</a:t>
            </a:r>
            <a:r>
              <a:rPr dirty="0"/>
              <a:t> → [CLS] → </a:t>
            </a:r>
            <a:r>
              <a:rPr dirty="0" err="1"/>
              <a:t>cabeca</a:t>
            </a:r>
            <a:r>
              <a:rPr dirty="0"/>
              <a:t> → </a:t>
            </a:r>
            <a:r>
              <a:rPr dirty="0" err="1"/>
              <a:t>sigmoide</a:t>
            </a:r>
            <a:r>
              <a:rPr dirty="0"/>
              <a:t> → </a:t>
            </a:r>
            <a:r>
              <a:rPr dirty="0" err="1"/>
              <a:t>vetor</a:t>
            </a:r>
            <a:r>
              <a:rPr dirty="0"/>
              <a:t> 0/1. </a:t>
            </a:r>
            <a:r>
              <a:rPr dirty="0" err="1"/>
              <a:t>Metrica</a:t>
            </a:r>
            <a:r>
              <a:rPr dirty="0"/>
              <a:t>: macro-F1. (~1min30)</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err="1"/>
              <a:t>Resultado</a:t>
            </a:r>
            <a:r>
              <a:rPr dirty="0"/>
              <a:t> central </a:t>
            </a:r>
            <a:r>
              <a:rPr dirty="0" err="1"/>
              <a:t>na</a:t>
            </a:r>
            <a:r>
              <a:rPr dirty="0"/>
              <a:t> </a:t>
            </a:r>
            <a:r>
              <a:rPr dirty="0" err="1"/>
              <a:t>tabela</a:t>
            </a:r>
            <a:r>
              <a:rPr dirty="0"/>
              <a:t>. Com </a:t>
            </a:r>
            <a:r>
              <a:rPr dirty="0" err="1"/>
              <a:t>limiar</a:t>
            </a:r>
            <a:r>
              <a:rPr dirty="0"/>
              <a:t> </a:t>
            </a:r>
            <a:r>
              <a:rPr dirty="0" err="1"/>
              <a:t>ajustado</a:t>
            </a:r>
            <a:r>
              <a:rPr dirty="0"/>
              <a:t>, o </a:t>
            </a:r>
            <a:r>
              <a:rPr dirty="0" err="1"/>
              <a:t>BERTimbau</a:t>
            </a:r>
            <a:r>
              <a:rPr dirty="0"/>
              <a:t> bate o baseline </a:t>
            </a:r>
            <a:r>
              <a:rPr dirty="0" err="1"/>
              <a:t>em</a:t>
            </a:r>
            <a:r>
              <a:rPr dirty="0"/>
              <a:t> </a:t>
            </a:r>
            <a:r>
              <a:rPr dirty="0" err="1"/>
              <a:t>todas</a:t>
            </a:r>
            <a:r>
              <a:rPr dirty="0"/>
              <a:t> as </a:t>
            </a:r>
            <a:r>
              <a:rPr dirty="0" err="1"/>
              <a:t>metricas</a:t>
            </a:r>
            <a:r>
              <a:rPr dirty="0"/>
              <a:t> — </a:t>
            </a:r>
            <a:r>
              <a:rPr dirty="0" err="1"/>
              <a:t>destaque</a:t>
            </a:r>
            <a:r>
              <a:rPr dirty="0"/>
              <a:t> para o macro-F1 </a:t>
            </a:r>
            <a:r>
              <a:rPr dirty="0" err="1"/>
              <a:t>nos</a:t>
            </a:r>
            <a:r>
              <a:rPr dirty="0"/>
              <a:t> </a:t>
            </a:r>
            <a:r>
              <a:rPr dirty="0" err="1"/>
              <a:t>temas</a:t>
            </a:r>
            <a:r>
              <a:rPr dirty="0"/>
              <a:t> com </a:t>
            </a:r>
            <a:r>
              <a:rPr dirty="0" err="1"/>
              <a:t>suporte</a:t>
            </a:r>
            <a:r>
              <a:rPr dirty="0"/>
              <a:t> </a:t>
            </a:r>
            <a:r>
              <a:rPr dirty="0" err="1"/>
              <a:t>maior</a:t>
            </a:r>
            <a:r>
              <a:rPr dirty="0"/>
              <a:t>, </a:t>
            </a:r>
            <a:r>
              <a:rPr dirty="0" err="1"/>
              <a:t>que</a:t>
            </a:r>
            <a:r>
              <a:rPr dirty="0"/>
              <a:t> </a:t>
            </a:r>
            <a:r>
              <a:rPr dirty="0" err="1"/>
              <a:t>vai</a:t>
            </a:r>
            <a:r>
              <a:rPr dirty="0"/>
              <a:t> de 0,639 para 0,700. Mas o baseline e </a:t>
            </a:r>
            <a:r>
              <a:rPr dirty="0" err="1"/>
              <a:t>competitivo</a:t>
            </a:r>
            <a:r>
              <a:rPr dirty="0"/>
              <a:t>: </a:t>
            </a:r>
            <a:r>
              <a:rPr dirty="0" err="1"/>
              <a:t>como</a:t>
            </a:r>
            <a:r>
              <a:rPr dirty="0"/>
              <a:t> a </a:t>
            </a:r>
            <a:r>
              <a:rPr dirty="0" err="1"/>
              <a:t>ementa</a:t>
            </a:r>
            <a:r>
              <a:rPr dirty="0"/>
              <a:t> e </a:t>
            </a:r>
            <a:r>
              <a:rPr dirty="0" err="1"/>
              <a:t>curta</a:t>
            </a:r>
            <a:r>
              <a:rPr dirty="0"/>
              <a:t> e </a:t>
            </a:r>
            <a:r>
              <a:rPr dirty="0" err="1"/>
              <a:t>cheia</a:t>
            </a:r>
            <a:r>
              <a:rPr dirty="0"/>
              <a:t> de </a:t>
            </a:r>
            <a:r>
              <a:rPr dirty="0" err="1"/>
              <a:t>termos</a:t>
            </a:r>
            <a:r>
              <a:rPr dirty="0"/>
              <a:t> </a:t>
            </a:r>
            <a:r>
              <a:rPr dirty="0" err="1"/>
              <a:t>indicativos</a:t>
            </a:r>
            <a:r>
              <a:rPr dirty="0"/>
              <a:t>, o TF-IDF ja </a:t>
            </a:r>
            <a:r>
              <a:rPr dirty="0" err="1"/>
              <a:t>captura</a:t>
            </a:r>
            <a:r>
              <a:rPr dirty="0"/>
              <a:t> </a:t>
            </a:r>
            <a:r>
              <a:rPr dirty="0" err="1"/>
              <a:t>muito</a:t>
            </a:r>
            <a:r>
              <a:rPr dirty="0"/>
              <a:t> </a:t>
            </a:r>
            <a:r>
              <a:rPr dirty="0" err="1"/>
              <a:t>sinal</a:t>
            </a:r>
            <a:r>
              <a:rPr dirty="0"/>
              <a:t>. A </a:t>
            </a:r>
            <a:r>
              <a:rPr dirty="0" err="1"/>
              <a:t>figura</a:t>
            </a:r>
            <a:r>
              <a:rPr dirty="0"/>
              <a:t> a </a:t>
            </a:r>
            <a:r>
              <a:rPr dirty="0" err="1"/>
              <a:t>direita</a:t>
            </a:r>
            <a:r>
              <a:rPr dirty="0"/>
              <a:t> </a:t>
            </a:r>
            <a:r>
              <a:rPr dirty="0" err="1"/>
              <a:t>mostra</a:t>
            </a:r>
            <a:r>
              <a:rPr dirty="0"/>
              <a:t> a cauda longa </a:t>
            </a:r>
            <a:r>
              <a:rPr dirty="0" err="1"/>
              <a:t>que</a:t>
            </a:r>
            <a:r>
              <a:rPr dirty="0"/>
              <a:t> </a:t>
            </a:r>
            <a:r>
              <a:rPr dirty="0" err="1"/>
              <a:t>justifica</a:t>
            </a:r>
            <a:r>
              <a:rPr dirty="0"/>
              <a:t> </a:t>
            </a:r>
            <a:r>
              <a:rPr dirty="0" err="1"/>
              <a:t>reportar</a:t>
            </a:r>
            <a:r>
              <a:rPr dirty="0"/>
              <a:t> </a:t>
            </a:r>
            <a:r>
              <a:rPr dirty="0" err="1"/>
              <a:t>dois</a:t>
            </a:r>
            <a:r>
              <a:rPr dirty="0"/>
              <a:t> cortes de macro-F1. (~1min)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O </a:t>
            </a:r>
            <a:r>
              <a:rPr dirty="0" err="1"/>
              <a:t>diferencial</a:t>
            </a:r>
            <a:r>
              <a:rPr dirty="0"/>
              <a:t>. </a:t>
            </a:r>
            <a:r>
              <a:rPr dirty="0" err="1"/>
              <a:t>Pegamos</a:t>
            </a:r>
            <a:r>
              <a:rPr dirty="0"/>
              <a:t> o </a:t>
            </a:r>
            <a:r>
              <a:rPr dirty="0" err="1"/>
              <a:t>modelo</a:t>
            </a:r>
            <a:r>
              <a:rPr dirty="0"/>
              <a:t> </a:t>
            </a:r>
            <a:r>
              <a:rPr dirty="0" err="1"/>
              <a:t>treinado</a:t>
            </a:r>
            <a:r>
              <a:rPr dirty="0"/>
              <a:t> </a:t>
            </a:r>
            <a:r>
              <a:rPr dirty="0" err="1"/>
              <a:t>em</a:t>
            </a:r>
            <a:r>
              <a:rPr dirty="0"/>
              <a:t> </a:t>
            </a:r>
            <a:r>
              <a:rPr dirty="0" err="1"/>
              <a:t>ementas</a:t>
            </a:r>
            <a:r>
              <a:rPr dirty="0"/>
              <a:t> e </a:t>
            </a:r>
            <a:r>
              <a:rPr dirty="0" err="1"/>
              <a:t>aplicamos</a:t>
            </a:r>
            <a:r>
              <a:rPr dirty="0"/>
              <a:t> </a:t>
            </a:r>
            <a:r>
              <a:rPr dirty="0" err="1"/>
              <a:t>em</a:t>
            </a:r>
            <a:r>
              <a:rPr dirty="0"/>
              <a:t> 46 mil </a:t>
            </a:r>
            <a:r>
              <a:rPr dirty="0" err="1"/>
              <a:t>discursos</a:t>
            </a:r>
            <a:r>
              <a:rPr dirty="0"/>
              <a:t>, </a:t>
            </a:r>
            <a:r>
              <a:rPr dirty="0" err="1"/>
              <a:t>sem</a:t>
            </a:r>
            <a:r>
              <a:rPr dirty="0"/>
              <a:t> </a:t>
            </a:r>
            <a:r>
              <a:rPr dirty="0" err="1"/>
              <a:t>retreinar</a:t>
            </a:r>
            <a:r>
              <a:rPr dirty="0"/>
              <a:t>. Como </a:t>
            </a:r>
            <a:r>
              <a:rPr dirty="0" err="1"/>
              <a:t>discurso</a:t>
            </a:r>
            <a:r>
              <a:rPr dirty="0"/>
              <a:t> e </a:t>
            </a:r>
            <a:r>
              <a:rPr dirty="0" err="1"/>
              <a:t>longo</a:t>
            </a:r>
            <a:r>
              <a:rPr dirty="0"/>
              <a:t>, </a:t>
            </a:r>
            <a:r>
              <a:rPr dirty="0" err="1"/>
              <a:t>quebramos</a:t>
            </a:r>
            <a:r>
              <a:rPr dirty="0"/>
              <a:t> </a:t>
            </a:r>
            <a:r>
              <a:rPr dirty="0" err="1"/>
              <a:t>em</a:t>
            </a:r>
            <a:r>
              <a:rPr dirty="0"/>
              <a:t> </a:t>
            </a:r>
            <a:r>
              <a:rPr dirty="0" err="1"/>
              <a:t>janelas</a:t>
            </a:r>
            <a:r>
              <a:rPr dirty="0"/>
              <a:t> e </a:t>
            </a:r>
            <a:r>
              <a:rPr dirty="0" err="1"/>
              <a:t>agregamos</a:t>
            </a:r>
            <a:r>
              <a:rPr dirty="0"/>
              <a:t>. </a:t>
            </a:r>
            <a:r>
              <a:rPr dirty="0" err="1"/>
              <a:t>Resultado</a:t>
            </a:r>
            <a:r>
              <a:rPr dirty="0"/>
              <a:t> </a:t>
            </a:r>
            <a:r>
              <a:rPr dirty="0" err="1"/>
              <a:t>esperado</a:t>
            </a:r>
            <a:r>
              <a:rPr dirty="0"/>
              <a:t>: </a:t>
            </a:r>
            <a:r>
              <a:rPr dirty="0" err="1"/>
              <a:t>cai</a:t>
            </a:r>
            <a:r>
              <a:rPr dirty="0"/>
              <a:t> de 0,700 para 0,569 — </a:t>
            </a:r>
            <a:r>
              <a:rPr dirty="0" err="1"/>
              <a:t>isso</a:t>
            </a:r>
            <a:r>
              <a:rPr dirty="0"/>
              <a:t> e domain shift. O </a:t>
            </a:r>
            <a:r>
              <a:rPr dirty="0" err="1"/>
              <a:t>modelo</a:t>
            </a:r>
            <a:r>
              <a:rPr dirty="0"/>
              <a:t> super-rotula, </a:t>
            </a:r>
            <a:r>
              <a:rPr dirty="0" err="1"/>
              <a:t>marca</a:t>
            </a:r>
            <a:r>
              <a:rPr dirty="0"/>
              <a:t> </a:t>
            </a:r>
            <a:r>
              <a:rPr dirty="0" err="1"/>
              <a:t>quase</a:t>
            </a:r>
            <a:r>
              <a:rPr dirty="0"/>
              <a:t> 6 </a:t>
            </a:r>
            <a:r>
              <a:rPr dirty="0" err="1"/>
              <a:t>temas</a:t>
            </a:r>
            <a:r>
              <a:rPr dirty="0"/>
              <a:t> </a:t>
            </a:r>
            <a:r>
              <a:rPr dirty="0" err="1"/>
              <a:t>por</a:t>
            </a:r>
            <a:r>
              <a:rPr dirty="0"/>
              <a:t> </a:t>
            </a:r>
            <a:r>
              <a:rPr dirty="0" err="1"/>
              <a:t>discurso</a:t>
            </a:r>
            <a:r>
              <a:rPr dirty="0"/>
              <a:t> contra 3,4 da </a:t>
            </a:r>
            <a:r>
              <a:rPr dirty="0" err="1"/>
              <a:t>referencia</a:t>
            </a:r>
            <a:r>
              <a:rPr dirty="0"/>
              <a:t>. </a:t>
            </a:r>
            <a:r>
              <a:rPr dirty="0" err="1"/>
              <a:t>Mesmo</a:t>
            </a:r>
            <a:r>
              <a:rPr dirty="0"/>
              <a:t> </a:t>
            </a:r>
            <a:r>
              <a:rPr dirty="0" err="1"/>
              <a:t>assim</a:t>
            </a:r>
            <a:r>
              <a:rPr dirty="0"/>
              <a:t>, </a:t>
            </a:r>
            <a:r>
              <a:rPr dirty="0" err="1"/>
              <a:t>cruzamos</a:t>
            </a:r>
            <a:r>
              <a:rPr dirty="0"/>
              <a:t> o </a:t>
            </a:r>
            <a:r>
              <a:rPr dirty="0" err="1"/>
              <a:t>que</a:t>
            </a:r>
            <a:r>
              <a:rPr dirty="0"/>
              <a:t> </a:t>
            </a:r>
            <a:r>
              <a:rPr dirty="0" err="1"/>
              <a:t>cada</a:t>
            </a:r>
            <a:r>
              <a:rPr dirty="0"/>
              <a:t> </a:t>
            </a:r>
            <a:r>
              <a:rPr dirty="0" err="1"/>
              <a:t>deputado</a:t>
            </a:r>
            <a:r>
              <a:rPr dirty="0"/>
              <a:t> </a:t>
            </a:r>
            <a:r>
              <a:rPr dirty="0" err="1"/>
              <a:t>fala</a:t>
            </a:r>
            <a:r>
              <a:rPr dirty="0"/>
              <a:t> com o </a:t>
            </a:r>
            <a:r>
              <a:rPr dirty="0" err="1"/>
              <a:t>que</a:t>
            </a:r>
            <a:r>
              <a:rPr dirty="0"/>
              <a:t> </a:t>
            </a:r>
            <a:r>
              <a:rPr dirty="0" err="1"/>
              <a:t>propoe</a:t>
            </a:r>
            <a:r>
              <a:rPr dirty="0"/>
              <a:t> — </a:t>
            </a:r>
            <a:r>
              <a:rPr dirty="0" err="1"/>
              <a:t>uma</a:t>
            </a:r>
            <a:r>
              <a:rPr dirty="0"/>
              <a:t> lente </a:t>
            </a:r>
            <a:r>
              <a:rPr dirty="0" err="1"/>
              <a:t>exploratoria</a:t>
            </a:r>
            <a:r>
              <a:rPr dirty="0"/>
              <a:t>, nao um </a:t>
            </a:r>
            <a:r>
              <a:rPr dirty="0" err="1"/>
              <a:t>veredito</a:t>
            </a:r>
            <a:r>
              <a:rPr dirty="0"/>
              <a:t> </a:t>
            </a:r>
            <a:r>
              <a:rPr dirty="0" err="1"/>
              <a:t>sobre</a:t>
            </a:r>
            <a:r>
              <a:rPr dirty="0"/>
              <a:t> </a:t>
            </a:r>
            <a:r>
              <a:rPr dirty="0" err="1"/>
              <a:t>coerencia</a:t>
            </a:r>
            <a:r>
              <a:rPr dirty="0"/>
              <a:t>. (~1min30)</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O </a:t>
            </a:r>
            <a:r>
              <a:rPr dirty="0" err="1"/>
              <a:t>modelo</a:t>
            </a:r>
            <a:r>
              <a:rPr dirty="0"/>
              <a:t> resolve o </a:t>
            </a:r>
            <a:r>
              <a:rPr dirty="0" err="1"/>
              <a:t>problema</a:t>
            </a:r>
            <a:r>
              <a:rPr dirty="0"/>
              <a:t> </a:t>
            </a:r>
            <a:r>
              <a:rPr dirty="0" err="1"/>
              <a:t>como</a:t>
            </a:r>
            <a:r>
              <a:rPr dirty="0"/>
              <a:t> </a:t>
            </a:r>
            <a:r>
              <a:rPr dirty="0" err="1"/>
              <a:t>apoio</a:t>
            </a:r>
            <a:r>
              <a:rPr dirty="0"/>
              <a:t>: </a:t>
            </a:r>
            <a:r>
              <a:rPr dirty="0" err="1"/>
              <a:t>nos</a:t>
            </a:r>
            <a:r>
              <a:rPr dirty="0"/>
              <a:t> </a:t>
            </a:r>
            <a:r>
              <a:rPr dirty="0" err="1"/>
              <a:t>temas</a:t>
            </a:r>
            <a:r>
              <a:rPr dirty="0"/>
              <a:t> com dados </a:t>
            </a:r>
            <a:r>
              <a:rPr dirty="0" err="1"/>
              <a:t>suficientes</a:t>
            </a:r>
            <a:r>
              <a:rPr dirty="0"/>
              <a:t> </a:t>
            </a:r>
            <a:r>
              <a:rPr dirty="0" err="1"/>
              <a:t>chega</a:t>
            </a:r>
            <a:r>
              <a:rPr dirty="0"/>
              <a:t> a 0,700 de macro-F1, </a:t>
            </a:r>
            <a:r>
              <a:rPr dirty="0" err="1"/>
              <a:t>bom</a:t>
            </a:r>
            <a:r>
              <a:rPr dirty="0"/>
              <a:t> para </a:t>
            </a:r>
            <a:r>
              <a:rPr dirty="0" err="1"/>
              <a:t>sugerir</a:t>
            </a:r>
            <a:r>
              <a:rPr dirty="0"/>
              <a:t> </a:t>
            </a:r>
            <a:r>
              <a:rPr dirty="0" err="1"/>
              <a:t>temas</a:t>
            </a:r>
            <a:r>
              <a:rPr dirty="0"/>
              <a:t> e </a:t>
            </a:r>
            <a:r>
              <a:rPr dirty="0" err="1"/>
              <a:t>gerar</a:t>
            </a:r>
            <a:r>
              <a:rPr dirty="0"/>
              <a:t> </a:t>
            </a:r>
            <a:r>
              <a:rPr dirty="0" err="1"/>
              <a:t>estatisticas</a:t>
            </a:r>
            <a:r>
              <a:rPr dirty="0"/>
              <a:t> — mas com </a:t>
            </a:r>
            <a:r>
              <a:rPr dirty="0" err="1"/>
              <a:t>humano</a:t>
            </a:r>
            <a:r>
              <a:rPr dirty="0"/>
              <a:t> no </a:t>
            </a:r>
            <a:r>
              <a:rPr dirty="0" err="1"/>
              <a:t>circuito</a:t>
            </a:r>
            <a:r>
              <a:rPr dirty="0"/>
              <a:t>, nao </a:t>
            </a:r>
            <a:r>
              <a:rPr dirty="0" err="1"/>
              <a:t>como</a:t>
            </a:r>
            <a:r>
              <a:rPr dirty="0"/>
              <a:t> </a:t>
            </a:r>
            <a:r>
              <a:rPr dirty="0" err="1"/>
              <a:t>decisao</a:t>
            </a:r>
            <a:r>
              <a:rPr dirty="0"/>
              <a:t> final. </a:t>
            </a:r>
            <a:r>
              <a:rPr dirty="0" err="1"/>
              <a:t>Os</a:t>
            </a:r>
            <a:r>
              <a:rPr dirty="0"/>
              <a:t> </a:t>
            </a:r>
            <a:r>
              <a:rPr dirty="0" err="1"/>
              <a:t>limites</a:t>
            </a:r>
            <a:r>
              <a:rPr dirty="0"/>
              <a:t> </a:t>
            </a:r>
            <a:r>
              <a:rPr dirty="0" err="1"/>
              <a:t>sao</a:t>
            </a:r>
            <a:r>
              <a:rPr dirty="0"/>
              <a:t> </a:t>
            </a:r>
            <a:r>
              <a:rPr dirty="0" err="1"/>
              <a:t>honestos</a:t>
            </a:r>
            <a:r>
              <a:rPr dirty="0"/>
              <a:t>: cauda longa, a propria </a:t>
            </a:r>
            <a:r>
              <a:rPr dirty="0" err="1"/>
              <a:t>subjetividade</a:t>
            </a:r>
            <a:r>
              <a:rPr dirty="0"/>
              <a:t> do </a:t>
            </a:r>
            <a:r>
              <a:rPr dirty="0" err="1"/>
              <a:t>rotulo</a:t>
            </a:r>
            <a:r>
              <a:rPr dirty="0"/>
              <a:t>, o domain shift </a:t>
            </a:r>
            <a:r>
              <a:rPr dirty="0" err="1"/>
              <a:t>nos</a:t>
            </a:r>
            <a:r>
              <a:rPr dirty="0"/>
              <a:t> </a:t>
            </a:r>
            <a:r>
              <a:rPr dirty="0" err="1"/>
              <a:t>discursos</a:t>
            </a:r>
            <a:r>
              <a:rPr dirty="0"/>
              <a:t> e o </a:t>
            </a:r>
            <a:r>
              <a:rPr dirty="0" err="1"/>
              <a:t>fato</a:t>
            </a:r>
            <a:r>
              <a:rPr dirty="0"/>
              <a:t> de a </a:t>
            </a:r>
            <a:r>
              <a:rPr dirty="0" err="1"/>
              <a:t>avaliacao</a:t>
            </a:r>
            <a:r>
              <a:rPr dirty="0"/>
              <a:t> dos </a:t>
            </a:r>
            <a:r>
              <a:rPr dirty="0" err="1"/>
              <a:t>discursos</a:t>
            </a:r>
            <a:r>
              <a:rPr dirty="0"/>
              <a:t> ter </a:t>
            </a:r>
            <a:r>
              <a:rPr dirty="0" err="1"/>
              <a:t>sido</a:t>
            </a:r>
            <a:r>
              <a:rPr dirty="0"/>
              <a:t> </a:t>
            </a:r>
            <a:r>
              <a:rPr dirty="0" err="1"/>
              <a:t>por</a:t>
            </a:r>
            <a:r>
              <a:rPr dirty="0"/>
              <a:t> </a:t>
            </a:r>
            <a:r>
              <a:rPr dirty="0" err="1"/>
              <a:t>amostra</a:t>
            </a:r>
            <a:r>
              <a:rPr dirty="0"/>
              <a:t> </a:t>
            </a:r>
            <a:r>
              <a:rPr dirty="0" err="1"/>
              <a:t>rotulada</a:t>
            </a:r>
            <a:r>
              <a:rPr dirty="0"/>
              <a:t> </a:t>
            </a:r>
            <a:r>
              <a:rPr dirty="0" err="1"/>
              <a:t>por</a:t>
            </a:r>
            <a:r>
              <a:rPr dirty="0"/>
              <a:t> LLM. (~1min)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err="1"/>
              <a:t>Concluindo</a:t>
            </a:r>
            <a:r>
              <a:rPr dirty="0"/>
              <a:t>: </a:t>
            </a:r>
            <a:r>
              <a:rPr dirty="0" err="1"/>
              <a:t>entregamos</a:t>
            </a:r>
            <a:r>
              <a:rPr dirty="0"/>
              <a:t> um pipeline </a:t>
            </a:r>
            <a:r>
              <a:rPr dirty="0" err="1"/>
              <a:t>completo</a:t>
            </a:r>
            <a:r>
              <a:rPr dirty="0"/>
              <a:t> e </a:t>
            </a:r>
            <a:r>
              <a:rPr dirty="0" err="1"/>
              <a:t>reprodutivel</a:t>
            </a:r>
            <a:r>
              <a:rPr dirty="0"/>
              <a:t>, da coleta propria ate a </a:t>
            </a:r>
            <a:r>
              <a:rPr dirty="0" err="1"/>
              <a:t>avaliacao</a:t>
            </a:r>
            <a:r>
              <a:rPr dirty="0"/>
              <a:t> </a:t>
            </a:r>
            <a:r>
              <a:rPr dirty="0" err="1"/>
              <a:t>critica</a:t>
            </a:r>
            <a:r>
              <a:rPr dirty="0"/>
              <a:t>. O </a:t>
            </a:r>
            <a:r>
              <a:rPr dirty="0" err="1"/>
              <a:t>BERTimbau</a:t>
            </a:r>
            <a:r>
              <a:rPr dirty="0"/>
              <a:t> </a:t>
            </a:r>
            <a:r>
              <a:rPr dirty="0" err="1"/>
              <a:t>vence</a:t>
            </a:r>
            <a:r>
              <a:rPr dirty="0"/>
              <a:t>, mas o baseline e </a:t>
            </a:r>
            <a:r>
              <a:rPr dirty="0" err="1"/>
              <a:t>competitivo</a:t>
            </a:r>
            <a:r>
              <a:rPr dirty="0"/>
              <a:t> </a:t>
            </a:r>
            <a:r>
              <a:rPr dirty="0" err="1"/>
              <a:t>em</a:t>
            </a:r>
            <a:r>
              <a:rPr dirty="0"/>
              <a:t> </a:t>
            </a:r>
            <a:r>
              <a:rPr dirty="0" err="1"/>
              <a:t>texto</a:t>
            </a:r>
            <a:r>
              <a:rPr dirty="0"/>
              <a:t> </a:t>
            </a:r>
            <a:r>
              <a:rPr dirty="0" err="1"/>
              <a:t>curto</a:t>
            </a:r>
            <a:r>
              <a:rPr dirty="0"/>
              <a:t> — </a:t>
            </a:r>
            <a:r>
              <a:rPr dirty="0" err="1"/>
              <a:t>uma</a:t>
            </a:r>
            <a:r>
              <a:rPr dirty="0"/>
              <a:t> </a:t>
            </a:r>
            <a:r>
              <a:rPr dirty="0" err="1"/>
              <a:t>licao</a:t>
            </a:r>
            <a:r>
              <a:rPr dirty="0"/>
              <a:t> </a:t>
            </a:r>
            <a:r>
              <a:rPr dirty="0" err="1"/>
              <a:t>importante</a:t>
            </a:r>
            <a:r>
              <a:rPr dirty="0"/>
              <a:t>. E a </a:t>
            </a:r>
            <a:r>
              <a:rPr dirty="0" err="1"/>
              <a:t>nossa</a:t>
            </a:r>
            <a:r>
              <a:rPr dirty="0"/>
              <a:t> </a:t>
            </a:r>
            <a:r>
              <a:rPr dirty="0" err="1"/>
              <a:t>maior</a:t>
            </a:r>
            <a:r>
              <a:rPr dirty="0"/>
              <a:t> </a:t>
            </a:r>
            <a:r>
              <a:rPr dirty="0" err="1"/>
              <a:t>contribuicao</a:t>
            </a:r>
            <a:r>
              <a:rPr dirty="0"/>
              <a:t> </a:t>
            </a:r>
            <a:r>
              <a:rPr dirty="0" err="1"/>
              <a:t>foi</a:t>
            </a:r>
            <a:r>
              <a:rPr dirty="0"/>
              <a:t> </a:t>
            </a:r>
            <a:r>
              <a:rPr dirty="0" err="1"/>
              <a:t>mostrar</a:t>
            </a:r>
            <a:r>
              <a:rPr dirty="0"/>
              <a:t> o domain shift </a:t>
            </a:r>
            <a:r>
              <a:rPr dirty="0" err="1"/>
              <a:t>na</a:t>
            </a:r>
            <a:r>
              <a:rPr dirty="0"/>
              <a:t> </a:t>
            </a:r>
            <a:r>
              <a:rPr dirty="0" err="1"/>
              <a:t>pratica</a:t>
            </a:r>
            <a:r>
              <a:rPr dirty="0"/>
              <a:t> e </a:t>
            </a:r>
            <a:r>
              <a:rPr dirty="0" err="1"/>
              <a:t>abrir</a:t>
            </a:r>
            <a:r>
              <a:rPr dirty="0"/>
              <a:t> a </a:t>
            </a:r>
            <a:r>
              <a:rPr dirty="0" err="1"/>
              <a:t>analise</a:t>
            </a:r>
            <a:r>
              <a:rPr dirty="0"/>
              <a:t> </a:t>
            </a:r>
            <a:r>
              <a:rPr dirty="0" err="1"/>
              <a:t>fala</a:t>
            </a:r>
            <a:r>
              <a:rPr dirty="0"/>
              <a:t>-versus-</a:t>
            </a:r>
            <a:r>
              <a:rPr dirty="0" err="1"/>
              <a:t>faz</a:t>
            </a:r>
            <a:r>
              <a:rPr dirty="0"/>
              <a:t>. (~45s)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Como </a:t>
            </a:r>
            <a:r>
              <a:rPr dirty="0" err="1"/>
              <a:t>melhorias</a:t>
            </a:r>
            <a:r>
              <a:rPr dirty="0"/>
              <a:t>: </a:t>
            </a:r>
            <a:r>
              <a:rPr dirty="0" err="1"/>
              <a:t>primeiro</a:t>
            </a:r>
            <a:r>
              <a:rPr dirty="0"/>
              <a:t> </a:t>
            </a:r>
            <a:r>
              <a:rPr dirty="0" err="1"/>
              <a:t>atacar</a:t>
            </a:r>
            <a:r>
              <a:rPr dirty="0"/>
              <a:t> a </a:t>
            </a:r>
            <a:r>
              <a:rPr dirty="0" err="1"/>
              <a:t>sobre-rotulacao</a:t>
            </a:r>
            <a:r>
              <a:rPr dirty="0"/>
              <a:t> dos </a:t>
            </a:r>
            <a:r>
              <a:rPr dirty="0" err="1"/>
              <a:t>discursos</a:t>
            </a:r>
            <a:r>
              <a:rPr dirty="0"/>
              <a:t>, </a:t>
            </a:r>
            <a:r>
              <a:rPr dirty="0" err="1"/>
              <a:t>mudando</a:t>
            </a:r>
            <a:r>
              <a:rPr dirty="0"/>
              <a:t> a </a:t>
            </a:r>
            <a:r>
              <a:rPr dirty="0" err="1"/>
              <a:t>agregacao</a:t>
            </a:r>
            <a:r>
              <a:rPr dirty="0"/>
              <a:t> e </a:t>
            </a:r>
            <a:r>
              <a:rPr dirty="0" err="1"/>
              <a:t>recalibrando</a:t>
            </a:r>
            <a:r>
              <a:rPr dirty="0"/>
              <a:t> </a:t>
            </a:r>
            <a:r>
              <a:rPr dirty="0" err="1"/>
              <a:t>limiares</a:t>
            </a:r>
            <a:r>
              <a:rPr dirty="0"/>
              <a:t>. </a:t>
            </a:r>
            <a:r>
              <a:rPr dirty="0" err="1"/>
              <a:t>Depois</a:t>
            </a:r>
            <a:r>
              <a:rPr dirty="0"/>
              <a:t>, </a:t>
            </a:r>
            <a:r>
              <a:rPr dirty="0" err="1"/>
              <a:t>adaptacao</a:t>
            </a:r>
            <a:r>
              <a:rPr dirty="0"/>
              <a:t> de </a:t>
            </a:r>
            <a:r>
              <a:rPr dirty="0" err="1"/>
              <a:t>dominio</a:t>
            </a:r>
            <a:r>
              <a:rPr dirty="0"/>
              <a:t>, </a:t>
            </a:r>
            <a:r>
              <a:rPr dirty="0" err="1"/>
              <a:t>continuando</a:t>
            </a:r>
            <a:r>
              <a:rPr dirty="0"/>
              <a:t> o pre-</a:t>
            </a:r>
            <a:r>
              <a:rPr dirty="0" err="1"/>
              <a:t>treino</a:t>
            </a:r>
            <a:r>
              <a:rPr dirty="0"/>
              <a:t> </a:t>
            </a:r>
            <a:r>
              <a:rPr dirty="0" err="1"/>
              <a:t>em</a:t>
            </a:r>
            <a:r>
              <a:rPr dirty="0"/>
              <a:t> </a:t>
            </a:r>
            <a:r>
              <a:rPr dirty="0" err="1"/>
              <a:t>textos</a:t>
            </a:r>
            <a:r>
              <a:rPr dirty="0"/>
              <a:t> </a:t>
            </a:r>
            <a:r>
              <a:rPr dirty="0" err="1"/>
              <a:t>legislativos</a:t>
            </a:r>
            <a:r>
              <a:rPr dirty="0"/>
              <a:t>. Testar </a:t>
            </a:r>
            <a:r>
              <a:rPr dirty="0" err="1"/>
              <a:t>modelos</a:t>
            </a:r>
            <a:r>
              <a:rPr dirty="0"/>
              <a:t> </a:t>
            </a:r>
            <a:r>
              <a:rPr dirty="0" err="1"/>
              <a:t>mais</a:t>
            </a:r>
            <a:r>
              <a:rPr dirty="0"/>
              <a:t> </a:t>
            </a:r>
            <a:r>
              <a:rPr dirty="0" err="1"/>
              <a:t>novos</a:t>
            </a:r>
            <a:r>
              <a:rPr dirty="0"/>
              <a:t> </a:t>
            </a:r>
            <a:r>
              <a:rPr dirty="0" err="1"/>
              <a:t>como</a:t>
            </a:r>
            <a:r>
              <a:rPr dirty="0"/>
              <a:t> o Albertina. E, para </a:t>
            </a:r>
            <a:r>
              <a:rPr dirty="0" err="1"/>
              <a:t>escala</a:t>
            </a:r>
            <a:r>
              <a:rPr dirty="0"/>
              <a:t>, </a:t>
            </a:r>
            <a:r>
              <a:rPr dirty="0" err="1"/>
              <a:t>validacao</a:t>
            </a:r>
            <a:r>
              <a:rPr dirty="0"/>
              <a:t> humana e </a:t>
            </a:r>
            <a:r>
              <a:rPr dirty="0" err="1"/>
              <a:t>integracao</a:t>
            </a:r>
            <a:r>
              <a:rPr dirty="0"/>
              <a:t> </a:t>
            </a:r>
            <a:r>
              <a:rPr dirty="0" err="1"/>
              <a:t>como</a:t>
            </a:r>
            <a:r>
              <a:rPr dirty="0"/>
              <a:t> ferramenta de </a:t>
            </a:r>
            <a:r>
              <a:rPr dirty="0" err="1"/>
              <a:t>apoio</a:t>
            </a:r>
            <a:r>
              <a:rPr dirty="0"/>
              <a:t> </a:t>
            </a:r>
            <a:r>
              <a:rPr dirty="0" err="1"/>
              <a:t>ao</a:t>
            </a:r>
            <a:r>
              <a:rPr dirty="0"/>
              <a:t> CEDI. </a:t>
            </a:r>
            <a:r>
              <a:rPr dirty="0" err="1"/>
              <a:t>Obrigado</a:t>
            </a:r>
            <a:r>
              <a:rPr dirty="0"/>
              <a:t>! </a:t>
            </a:r>
            <a:r>
              <a:rPr dirty="0" err="1"/>
              <a:t>Perguntas</a:t>
            </a:r>
            <a:r>
              <a:rPr dirty="0"/>
              <a:t>? (~45s)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3" name="TextBox 2"/>
          <p:cNvSpPr txBox="1"/>
          <p:nvPr/>
        </p:nvSpPr>
        <p:spPr>
          <a:xfrm>
            <a:off x="822960" y="1371600"/>
            <a:ext cx="10607040" cy="2377440"/>
          </a:xfrm>
          <a:prstGeom prst="rect">
            <a:avLst/>
          </a:prstGeom>
          <a:noFill/>
        </p:spPr>
        <p:txBody>
          <a:bodyPr wrap="square">
            <a:spAutoFit/>
          </a:bodyPr>
          <a:lstStyle/>
          <a:p>
            <a:r>
              <a:rPr lang="pt-BR" sz="3600" b="1" i="0" noProof="0" dirty="0" err="1">
                <a:solidFill>
                  <a:srgbClr val="1F3864"/>
                </a:solidFill>
                <a:latin typeface="Cambria"/>
              </a:rPr>
              <a:t>Classificacao</a:t>
            </a:r>
            <a:r>
              <a:rPr lang="pt-BR" sz="3600" b="1" i="0" noProof="0" dirty="0">
                <a:solidFill>
                  <a:srgbClr val="1F3864"/>
                </a:solidFill>
                <a:latin typeface="Cambria"/>
              </a:rPr>
              <a:t> </a:t>
            </a:r>
            <a:r>
              <a:rPr lang="pt-BR" sz="3600" b="1" i="0" noProof="0" dirty="0" err="1">
                <a:solidFill>
                  <a:srgbClr val="1F3864"/>
                </a:solidFill>
                <a:latin typeface="Cambria"/>
              </a:rPr>
              <a:t>Automatica</a:t>
            </a:r>
            <a:r>
              <a:rPr lang="pt-BR" sz="3600" b="1" i="0" noProof="0" dirty="0">
                <a:solidFill>
                  <a:srgbClr val="1F3864"/>
                </a:solidFill>
                <a:latin typeface="Cambria"/>
              </a:rPr>
              <a:t> de Projetos de Lei por Tema com BERTimbau</a:t>
            </a:r>
          </a:p>
          <a:p>
            <a:pPr>
              <a:spcBef>
                <a:spcPts val="600"/>
              </a:spcBef>
            </a:pPr>
            <a:r>
              <a:rPr lang="pt-BR" sz="2200" b="0" i="1" noProof="0" dirty="0">
                <a:solidFill>
                  <a:srgbClr val="555555"/>
                </a:solidFill>
                <a:latin typeface="Cambria"/>
              </a:rPr>
              <a:t>Um estudo de Transfer Learning e Domain Shift no Setor Publico</a:t>
            </a:r>
          </a:p>
        </p:txBody>
      </p:sp>
      <p:sp>
        <p:nvSpPr>
          <p:cNvPr id="4" name="Rectangle 3"/>
          <p:cNvSpPr/>
          <p:nvPr/>
        </p:nvSpPr>
        <p:spPr>
          <a:xfrm>
            <a:off x="841248" y="3886200"/>
            <a:ext cx="365760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822960" y="4114800"/>
            <a:ext cx="10607040" cy="2011680"/>
          </a:xfrm>
          <a:prstGeom prst="rect">
            <a:avLst/>
          </a:prstGeom>
          <a:noFill/>
        </p:spPr>
        <p:txBody>
          <a:bodyPr wrap="square">
            <a:spAutoFit/>
          </a:bodyPr>
          <a:lstStyle/>
          <a:p>
            <a:pPr>
              <a:spcAft>
                <a:spcPts val="600"/>
              </a:spcAft>
            </a:pPr>
            <a:r>
              <a:rPr lang="pt-BR" sz="1600" b="1" i="0" noProof="0" dirty="0" err="1">
                <a:solidFill>
                  <a:srgbClr val="222222"/>
                </a:solidFill>
                <a:latin typeface="Calibri"/>
              </a:rPr>
              <a:t>Aliendres</a:t>
            </a:r>
            <a:r>
              <a:rPr lang="pt-BR" sz="1600" b="1" i="0" noProof="0" dirty="0">
                <a:solidFill>
                  <a:srgbClr val="222222"/>
                </a:solidFill>
                <a:latin typeface="Calibri"/>
              </a:rPr>
              <a:t> Souto Souza  ·  Gustavo Salvador Ferraz Ferreira  ·  </a:t>
            </a:r>
            <a:r>
              <a:rPr lang="pt-BR" sz="1600" b="1" i="0" noProof="0" dirty="0" err="1">
                <a:solidFill>
                  <a:srgbClr val="222222"/>
                </a:solidFill>
                <a:latin typeface="Calibri"/>
              </a:rPr>
              <a:t>Shenia</a:t>
            </a:r>
            <a:r>
              <a:rPr lang="pt-BR" sz="1600" b="1" i="0" noProof="0" dirty="0">
                <a:solidFill>
                  <a:srgbClr val="222222"/>
                </a:solidFill>
                <a:latin typeface="Calibri"/>
              </a:rPr>
              <a:t> Rocha Ladeira</a:t>
            </a:r>
          </a:p>
          <a:p>
            <a:pPr>
              <a:spcAft>
                <a:spcPts val="600"/>
              </a:spcAft>
            </a:pPr>
            <a:r>
              <a:rPr lang="pt-BR" sz="1500" b="0" i="0" noProof="0" dirty="0">
                <a:solidFill>
                  <a:srgbClr val="555555"/>
                </a:solidFill>
                <a:latin typeface="Calibri"/>
              </a:rPr>
              <a:t>Modalidade 2 — Processamento de Linguagem Natural no Setor Publico</a:t>
            </a:r>
          </a:p>
          <a:p>
            <a:pPr>
              <a:spcAft>
                <a:spcPts val="600"/>
              </a:spcAft>
            </a:pPr>
            <a:r>
              <a:rPr lang="pt-BR" sz="1400" b="0" i="0" noProof="0" dirty="0">
                <a:solidFill>
                  <a:srgbClr val="555555"/>
                </a:solidFill>
                <a:latin typeface="Calibri"/>
              </a:rPr>
              <a:t>Deep Learning e PLN  ·  Mestrado em </a:t>
            </a:r>
            <a:r>
              <a:rPr lang="pt-BR" sz="1400" b="0" i="0" noProof="0" dirty="0" err="1">
                <a:solidFill>
                  <a:srgbClr val="555555"/>
                </a:solidFill>
                <a:latin typeface="Calibri"/>
              </a:rPr>
              <a:t>Ciencia</a:t>
            </a:r>
            <a:r>
              <a:rPr lang="pt-BR" sz="1400" b="0" i="0" noProof="0" dirty="0">
                <a:solidFill>
                  <a:srgbClr val="555555"/>
                </a:solidFill>
                <a:latin typeface="Calibri"/>
              </a:rPr>
              <a:t> de Dados e </a:t>
            </a:r>
            <a:r>
              <a:rPr lang="pt-BR" sz="1400" b="0" i="0" noProof="0" dirty="0" err="1">
                <a:solidFill>
                  <a:srgbClr val="555555"/>
                </a:solidFill>
                <a:latin typeface="Calibri"/>
              </a:rPr>
              <a:t>Inteligencia</a:t>
            </a:r>
            <a:r>
              <a:rPr lang="pt-BR" sz="1400" b="0" i="0" noProof="0" dirty="0">
                <a:solidFill>
                  <a:srgbClr val="555555"/>
                </a:solidFill>
                <a:latin typeface="Calibri"/>
              </a:rPr>
              <a:t> Artificial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1 · CONTEXTO</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Que problema real resolvemos?</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83080"/>
            <a:ext cx="11064240" cy="3729226"/>
          </a:xfrm>
          <a:prstGeom prst="rect">
            <a:avLst/>
          </a:prstGeom>
          <a:noFill/>
        </p:spPr>
        <p:txBody>
          <a:bodyPr wrap="square">
            <a:spAutoFit/>
          </a:bodyPr>
          <a:lstStyle/>
          <a:p>
            <a:pPr>
              <a:spcBef>
                <a:spcPts val="0"/>
              </a:spcBef>
              <a:spcAft>
                <a:spcPts val="1000"/>
              </a:spcAft>
            </a:pPr>
            <a:r>
              <a:rPr lang="pt-BR" sz="1900" b="0" i="0" noProof="0" dirty="0">
                <a:solidFill>
                  <a:srgbClr val="222222"/>
                </a:solidFill>
                <a:latin typeface="Calibri"/>
              </a:rPr>
              <a:t>•  A Câmara dos Deputados recebe milhares de Projetos de Lei (PLs) por ano.</a:t>
            </a:r>
          </a:p>
          <a:p>
            <a:pPr lvl="1">
              <a:spcBef>
                <a:spcPts val="0"/>
              </a:spcBef>
              <a:spcAft>
                <a:spcPts val="1000"/>
              </a:spcAft>
            </a:pPr>
            <a:r>
              <a:rPr lang="pt-BR" sz="1700" b="0" i="0" noProof="0" dirty="0">
                <a:solidFill>
                  <a:srgbClr val="555555"/>
                </a:solidFill>
                <a:latin typeface="Calibri"/>
              </a:rPr>
              <a:t>–  Cada PL precisa ser organizado por tema (Saúde, Educação, Meio Ambiente...) — hoje isso e feito manualmente por especialistas do CEDI.</a:t>
            </a:r>
          </a:p>
          <a:p>
            <a:pPr>
              <a:spcBef>
                <a:spcPts val="0"/>
              </a:spcBef>
              <a:spcAft>
                <a:spcPts val="1000"/>
              </a:spcAft>
            </a:pPr>
            <a:r>
              <a:rPr lang="pt-BR" sz="1900" b="1" i="0" noProof="0" dirty="0">
                <a:solidFill>
                  <a:srgbClr val="1F3864"/>
                </a:solidFill>
                <a:latin typeface="Calibri"/>
              </a:rPr>
              <a:t>•  Pergunta de pesquisa:</a:t>
            </a:r>
          </a:p>
          <a:p>
            <a:pPr lvl="1">
              <a:spcBef>
                <a:spcPts val="0"/>
              </a:spcBef>
              <a:spcAft>
                <a:spcPts val="1000"/>
              </a:spcAft>
            </a:pPr>
            <a:r>
              <a:rPr lang="pt-BR" sz="1700" b="0" i="0" noProof="0" dirty="0">
                <a:solidFill>
                  <a:srgbClr val="555555"/>
                </a:solidFill>
                <a:latin typeface="Calibri"/>
              </a:rPr>
              <a:t>–  um modelo consegue ler a ementa de um PL e prever, sozinho, a quais temas ele pertence?</a:t>
            </a:r>
          </a:p>
          <a:p>
            <a:pPr>
              <a:spcBef>
                <a:spcPts val="0"/>
              </a:spcBef>
              <a:spcAft>
                <a:spcPts val="1000"/>
              </a:spcAft>
            </a:pPr>
            <a:r>
              <a:rPr lang="pt-BR" sz="1900" b="1" i="0" noProof="0" dirty="0">
                <a:solidFill>
                  <a:srgbClr val="1F3864"/>
                </a:solidFill>
                <a:latin typeface="Calibri"/>
              </a:rPr>
              <a:t>•  É uma tarefa multirrótulo:</a:t>
            </a:r>
          </a:p>
          <a:p>
            <a:pPr lvl="1">
              <a:spcBef>
                <a:spcPts val="0"/>
              </a:spcBef>
              <a:spcAft>
                <a:spcPts val="1000"/>
              </a:spcAft>
            </a:pPr>
            <a:r>
              <a:rPr lang="pt-BR" sz="1700" b="0" i="0" noProof="0" dirty="0">
                <a:solidFill>
                  <a:srgbClr val="555555"/>
                </a:solidFill>
                <a:latin typeface="Calibri"/>
              </a:rPr>
              <a:t>–  um mesmo PL quase sempre trata de vários temas ao mesmo tempo (em m</a:t>
            </a:r>
            <a:r>
              <a:rPr lang="pt-BR" sz="1700" dirty="0">
                <a:solidFill>
                  <a:srgbClr val="555555"/>
                </a:solidFill>
                <a:latin typeface="Calibri"/>
              </a:rPr>
              <a:t>é</a:t>
            </a:r>
            <a:r>
              <a:rPr lang="pt-BR" sz="1700" b="0" i="0" noProof="0" dirty="0">
                <a:solidFill>
                  <a:srgbClr val="555555"/>
                </a:solidFill>
                <a:latin typeface="Calibri"/>
              </a:rPr>
              <a:t>dia 2,31 temas/PL).</a:t>
            </a:r>
          </a:p>
          <a:p>
            <a:pPr>
              <a:spcBef>
                <a:spcPts val="0"/>
              </a:spcBef>
              <a:spcAft>
                <a:spcPts val="1000"/>
              </a:spcAft>
            </a:pPr>
            <a:r>
              <a:rPr lang="pt-BR" sz="1900" b="1" i="0" noProof="0" dirty="0">
                <a:solidFill>
                  <a:srgbClr val="1F3864"/>
                </a:solidFill>
                <a:latin typeface="Calibri"/>
              </a:rPr>
              <a:t>•  Diferencial do trabalho:</a:t>
            </a:r>
          </a:p>
          <a:p>
            <a:pPr lvl="1">
              <a:spcBef>
                <a:spcPts val="0"/>
              </a:spcBef>
              <a:spcAft>
                <a:spcPts val="1000"/>
              </a:spcAft>
            </a:pPr>
            <a:r>
              <a:rPr lang="pt-BR" sz="1700" b="0" i="0" noProof="0" dirty="0">
                <a:solidFill>
                  <a:srgbClr val="555555"/>
                </a:solidFill>
                <a:latin typeface="Calibri"/>
              </a:rPr>
              <a:t>–  aplicar o modelo treinado em ementas também aos discursos parlamentares e cruzar o que o deputado "fala" com o que ele "faz".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2 · BASE TEORICA</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Quais artigos sustentam o projeto?</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37360"/>
            <a:ext cx="11064240" cy="3088025"/>
          </a:xfrm>
          <a:prstGeom prst="rect">
            <a:avLst/>
          </a:prstGeom>
          <a:noFill/>
        </p:spPr>
        <p:txBody>
          <a:bodyPr wrap="square">
            <a:spAutoFit/>
          </a:bodyPr>
          <a:lstStyle/>
          <a:p>
            <a:pPr>
              <a:spcBef>
                <a:spcPts val="0"/>
              </a:spcBef>
              <a:spcAft>
                <a:spcPts val="700"/>
              </a:spcAft>
            </a:pPr>
            <a:r>
              <a:rPr lang="pt-BR" sz="1800" b="1" i="0" noProof="0" dirty="0">
                <a:solidFill>
                  <a:srgbClr val="1F3864"/>
                </a:solidFill>
                <a:latin typeface="Calibri"/>
              </a:rPr>
              <a:t>•  A técnica — da contagem de palavras aos Transformers</a:t>
            </a:r>
          </a:p>
          <a:p>
            <a:pPr lvl="1">
              <a:spcBef>
                <a:spcPts val="0"/>
              </a:spcBef>
              <a:spcAft>
                <a:spcPts val="700"/>
              </a:spcAft>
            </a:pPr>
            <a:r>
              <a:rPr lang="pt-BR" sz="1600" b="0" i="0" noProof="0" dirty="0">
                <a:solidFill>
                  <a:srgbClr val="555555"/>
                </a:solidFill>
                <a:latin typeface="Calibri"/>
              </a:rPr>
              <a:t>–  TF-IDF / bag-of-words (baseline clássico) → revisão de Deep Learning em texto (Minaee et al., 2021)</a:t>
            </a:r>
          </a:p>
          <a:p>
            <a:pPr lvl="1">
              <a:spcBef>
                <a:spcPts val="0"/>
              </a:spcBef>
              <a:spcAft>
                <a:spcPts val="700"/>
              </a:spcAft>
            </a:pPr>
            <a:r>
              <a:rPr lang="pt-BR" sz="1600" b="0" i="0" noProof="0" dirty="0">
                <a:solidFill>
                  <a:srgbClr val="555555"/>
                </a:solidFill>
                <a:latin typeface="Calibri"/>
              </a:rPr>
              <a:t>–  Transformer e mecanismo de atenção (Vaswani et al., 2017) → BERT (Devlin et al., 2019)</a:t>
            </a:r>
          </a:p>
          <a:p>
            <a:pPr lvl="1">
              <a:spcBef>
                <a:spcPts val="0"/>
              </a:spcBef>
              <a:spcAft>
                <a:spcPts val="700"/>
              </a:spcAft>
            </a:pPr>
            <a:r>
              <a:rPr lang="pt-BR" sz="1600" b="0" i="0" noProof="0" dirty="0">
                <a:solidFill>
                  <a:srgbClr val="555555"/>
                </a:solidFill>
                <a:latin typeface="Calibri"/>
              </a:rPr>
              <a:t>–  Transfer learning / ULMFiT (Howard &amp; Ruder, 2018)</a:t>
            </a:r>
          </a:p>
          <a:p>
            <a:pPr lvl="1">
              <a:spcBef>
                <a:spcPts val="0"/>
              </a:spcBef>
              <a:spcAft>
                <a:spcPts val="700"/>
              </a:spcAft>
            </a:pPr>
            <a:r>
              <a:rPr lang="pt-BR" sz="1600" b="1" i="0" noProof="0" dirty="0">
                <a:solidFill>
                  <a:srgbClr val="222222"/>
                </a:solidFill>
                <a:latin typeface="Calibri"/>
              </a:rPr>
              <a:t>–  BERTimbau — BERT </a:t>
            </a:r>
            <a:r>
              <a:rPr lang="pt-BR" sz="1600" b="1" i="0" noProof="0" dirty="0" err="1">
                <a:solidFill>
                  <a:srgbClr val="222222"/>
                </a:solidFill>
                <a:latin typeface="Calibri"/>
              </a:rPr>
              <a:t>pré</a:t>
            </a:r>
            <a:r>
              <a:rPr lang="pt-BR" sz="1600" b="1" i="0" noProof="0" dirty="0">
                <a:solidFill>
                  <a:srgbClr val="222222"/>
                </a:solidFill>
                <a:latin typeface="Calibri"/>
              </a:rPr>
              <a:t>-treinado em português (Souza, Nogueira &amp; Lotufo, 2020) — modelo adotado</a:t>
            </a:r>
          </a:p>
          <a:p>
            <a:pPr>
              <a:spcBef>
                <a:spcPts val="0"/>
              </a:spcBef>
              <a:spcAft>
                <a:spcPts val="700"/>
              </a:spcAft>
            </a:pPr>
            <a:r>
              <a:rPr lang="pt-BR" sz="1800" b="1" i="0" noProof="0" dirty="0">
                <a:solidFill>
                  <a:srgbClr val="1F3864"/>
                </a:solidFill>
                <a:latin typeface="Calibri"/>
              </a:rPr>
              <a:t>•  O domínio — PLN legislativo e jurídico brasileiro</a:t>
            </a:r>
          </a:p>
          <a:p>
            <a:pPr lvl="1">
              <a:spcBef>
                <a:spcPts val="0"/>
              </a:spcBef>
              <a:spcAft>
                <a:spcPts val="700"/>
              </a:spcAft>
            </a:pPr>
            <a:r>
              <a:rPr lang="pt-BR" sz="1600" b="0" i="0" noProof="0" dirty="0">
                <a:solidFill>
                  <a:srgbClr val="555555"/>
                </a:solidFill>
                <a:latin typeface="Calibri"/>
              </a:rPr>
              <a:t>–  Classificação de proposições por tema (Batista, 2020); corpus Ulysses / UlyssesNER-Br (Albuquerque et al., 2022)</a:t>
            </a:r>
          </a:p>
          <a:p>
            <a:pPr lvl="1">
              <a:spcBef>
                <a:spcPts val="0"/>
              </a:spcBef>
              <a:spcAft>
                <a:spcPts val="700"/>
              </a:spcAft>
            </a:pPr>
            <a:r>
              <a:rPr lang="pt-BR" sz="1600" b="0" i="0" noProof="0" dirty="0">
                <a:solidFill>
                  <a:srgbClr val="555555"/>
                </a:solidFill>
                <a:latin typeface="Calibri"/>
              </a:rPr>
              <a:t>–  Limite de 512 tokens em textos jurídicos longos (Menezes-Neto &amp; Clementino, 2022)</a:t>
            </a:r>
          </a:p>
          <a:p>
            <a:pPr lvl="1">
              <a:spcBef>
                <a:spcPts val="0"/>
              </a:spcBef>
              <a:spcAft>
                <a:spcPts val="700"/>
              </a:spcAft>
            </a:pPr>
            <a:r>
              <a:rPr lang="pt-BR" sz="1600" b="0" i="0" noProof="0" dirty="0">
                <a:solidFill>
                  <a:srgbClr val="555555"/>
                </a:solidFill>
                <a:latin typeface="Calibri"/>
              </a:rPr>
              <a:t>–  Avaliação LLM-as-a-judge (Zheng et al., 2023) — usada nos discursos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3 · DADOS</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Como os dados foram coletados?</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83080"/>
            <a:ext cx="11064240" cy="3085460"/>
          </a:xfrm>
          <a:prstGeom prst="rect">
            <a:avLst/>
          </a:prstGeom>
          <a:noFill/>
        </p:spPr>
        <p:txBody>
          <a:bodyPr wrap="square">
            <a:spAutoFit/>
          </a:bodyPr>
          <a:lstStyle/>
          <a:p>
            <a:pPr>
              <a:spcBef>
                <a:spcPts val="0"/>
              </a:spcBef>
              <a:spcAft>
                <a:spcPts val="900"/>
              </a:spcAft>
            </a:pPr>
            <a:r>
              <a:rPr lang="pt-BR" sz="1850" b="0" i="0" noProof="0" dirty="0">
                <a:solidFill>
                  <a:srgbClr val="222222"/>
                </a:solidFill>
                <a:latin typeface="Calibri"/>
              </a:rPr>
              <a:t>•  Coleta própria via API publica de Dados Abertos da Câmara — sem base pronta de terceiros.</a:t>
            </a:r>
          </a:p>
          <a:p>
            <a:pPr lvl="1">
              <a:spcBef>
                <a:spcPts val="0"/>
              </a:spcBef>
              <a:spcAft>
                <a:spcPts val="900"/>
              </a:spcAft>
            </a:pPr>
            <a:r>
              <a:rPr lang="pt-BR" sz="1650" b="0" i="0" noProof="0" dirty="0">
                <a:solidFill>
                  <a:srgbClr val="555555"/>
                </a:solidFill>
                <a:latin typeface="Calibri"/>
              </a:rPr>
              <a:t>–  Notebook documentado + manifesto com SHA-256 (reprodutibilidade).</a:t>
            </a:r>
          </a:p>
          <a:p>
            <a:pPr>
              <a:spcBef>
                <a:spcPts val="0"/>
              </a:spcBef>
              <a:spcAft>
                <a:spcPts val="900"/>
              </a:spcAft>
            </a:pPr>
            <a:r>
              <a:rPr lang="pt-BR" sz="1850" b="0" i="0" noProof="0" dirty="0">
                <a:solidFill>
                  <a:srgbClr val="222222"/>
                </a:solidFill>
                <a:latin typeface="Calibri"/>
              </a:rPr>
              <a:t>•  Recorte 2023–2026, sem teto de quantidade → 19.354 Projetos de Lei.</a:t>
            </a:r>
          </a:p>
          <a:p>
            <a:pPr>
              <a:spcBef>
                <a:spcPts val="0"/>
              </a:spcBef>
              <a:spcAft>
                <a:spcPts val="900"/>
              </a:spcAft>
            </a:pPr>
            <a:r>
              <a:rPr lang="pt-BR" sz="1850" b="0" i="0" noProof="0" dirty="0">
                <a:solidFill>
                  <a:srgbClr val="222222"/>
                </a:solidFill>
                <a:latin typeface="Calibri"/>
              </a:rPr>
              <a:t>•  Entrada (X): a ementa (texto curto). Rotulo (y): os 32 temas oficiais do CEDI.</a:t>
            </a:r>
          </a:p>
          <a:p>
            <a:pPr lvl="1">
              <a:spcBef>
                <a:spcPts val="0"/>
              </a:spcBef>
              <a:spcAft>
                <a:spcPts val="900"/>
              </a:spcAft>
            </a:pPr>
            <a:r>
              <a:rPr lang="pt-BR" sz="1650" b="0" i="0" noProof="0" dirty="0">
                <a:solidFill>
                  <a:srgbClr val="555555"/>
                </a:solidFill>
                <a:latin typeface="Calibri"/>
              </a:rPr>
              <a:t>–  Rótulos vem prontos da API — sem anotação manual. Em media 2,31 temas por PL (multirrótulo).</a:t>
            </a:r>
          </a:p>
          <a:p>
            <a:pPr>
              <a:spcBef>
                <a:spcPts val="0"/>
              </a:spcBef>
              <a:spcAft>
                <a:spcPts val="900"/>
              </a:spcAft>
            </a:pPr>
            <a:r>
              <a:rPr lang="pt-BR" sz="1850" b="0" i="0" noProof="0" dirty="0">
                <a:solidFill>
                  <a:srgbClr val="222222"/>
                </a:solidFill>
                <a:latin typeface="Calibri"/>
              </a:rPr>
              <a:t>•  Só a ementa: palavras-chave dariam vazamento (leakage); o PDF integral e caro e dilui o tema.</a:t>
            </a:r>
          </a:p>
          <a:p>
            <a:pPr>
              <a:spcBef>
                <a:spcPts val="0"/>
              </a:spcBef>
              <a:spcAft>
                <a:spcPts val="900"/>
              </a:spcAft>
            </a:pPr>
            <a:r>
              <a:rPr lang="pt-BR" sz="1850" b="1" i="0" noProof="0" dirty="0">
                <a:solidFill>
                  <a:srgbClr val="9B2C2C"/>
                </a:solidFill>
                <a:latin typeface="Calibri"/>
              </a:rPr>
              <a:t>•  Limitação principal — cauda longa:</a:t>
            </a:r>
          </a:p>
          <a:p>
            <a:pPr lvl="1">
              <a:spcBef>
                <a:spcPts val="0"/>
              </a:spcBef>
              <a:spcAft>
                <a:spcPts val="900"/>
              </a:spcAft>
            </a:pPr>
            <a:r>
              <a:rPr lang="pt-BR" sz="1650" b="0" i="0" noProof="0" dirty="0">
                <a:solidFill>
                  <a:srgbClr val="555555"/>
                </a:solidFill>
                <a:latin typeface="Calibri"/>
              </a:rPr>
              <a:t>–  28 temas com suporte ≥ 200; 4 raríssimos (Ciências Exatas = 5, Ciências Sociais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4 · METODOLOGIA</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Modelos e arquitetura de Deep Learning</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691640"/>
            <a:ext cx="7680960" cy="3108543"/>
          </a:xfrm>
          <a:prstGeom prst="rect">
            <a:avLst/>
          </a:prstGeom>
          <a:noFill/>
        </p:spPr>
        <p:txBody>
          <a:bodyPr wrap="square">
            <a:spAutoFit/>
          </a:bodyPr>
          <a:lstStyle/>
          <a:p>
            <a:pPr>
              <a:spcBef>
                <a:spcPts val="0"/>
              </a:spcBef>
              <a:spcAft>
                <a:spcPts val="600"/>
              </a:spcAft>
            </a:pPr>
            <a:r>
              <a:rPr lang="pt-BR" sz="1650" b="1" i="0" noProof="0" dirty="0">
                <a:solidFill>
                  <a:srgbClr val="1F3864"/>
                </a:solidFill>
                <a:latin typeface="Calibri"/>
              </a:rPr>
              <a:t>•  Baseline (referencia):</a:t>
            </a:r>
          </a:p>
          <a:p>
            <a:pPr lvl="1">
              <a:spcBef>
                <a:spcPts val="0"/>
              </a:spcBef>
              <a:spcAft>
                <a:spcPts val="600"/>
              </a:spcAft>
            </a:pPr>
            <a:r>
              <a:rPr lang="pt-BR" sz="1450" b="0" i="0" noProof="0" dirty="0">
                <a:solidFill>
                  <a:srgbClr val="555555"/>
                </a:solidFill>
                <a:latin typeface="Calibri"/>
              </a:rPr>
              <a:t>–  TF-IDF (1-2 gramas) + Regressão Logística one-vs-rest (class_weight balanced).</a:t>
            </a:r>
          </a:p>
          <a:p>
            <a:pPr>
              <a:spcBef>
                <a:spcPts val="0"/>
              </a:spcBef>
              <a:spcAft>
                <a:spcPts val="600"/>
              </a:spcAft>
            </a:pPr>
            <a:r>
              <a:rPr lang="pt-BR" sz="1650" b="1" i="0" noProof="0" dirty="0">
                <a:solidFill>
                  <a:srgbClr val="1F3864"/>
                </a:solidFill>
                <a:latin typeface="Calibri"/>
              </a:rPr>
              <a:t>•  Modelo profundo:</a:t>
            </a:r>
          </a:p>
          <a:p>
            <a:pPr lvl="1">
              <a:spcBef>
                <a:spcPts val="0"/>
              </a:spcBef>
              <a:spcAft>
                <a:spcPts val="600"/>
              </a:spcAft>
            </a:pPr>
            <a:r>
              <a:rPr lang="pt-BR" sz="1450" b="0" i="0" noProof="0" dirty="0">
                <a:solidFill>
                  <a:srgbClr val="555555"/>
                </a:solidFill>
                <a:latin typeface="Calibri"/>
              </a:rPr>
              <a:t>–  fine-tuning do BERTimbau (bert-base-portuguese-cased).</a:t>
            </a:r>
          </a:p>
          <a:p>
            <a:pPr lvl="1">
              <a:spcBef>
                <a:spcPts val="0"/>
              </a:spcBef>
              <a:spcAft>
                <a:spcPts val="600"/>
              </a:spcAft>
            </a:pPr>
            <a:r>
              <a:rPr lang="pt-BR" sz="1450" b="0" i="0" noProof="0" dirty="0">
                <a:solidFill>
                  <a:srgbClr val="555555"/>
                </a:solidFill>
                <a:latin typeface="Calibri"/>
              </a:rPr>
              <a:t>–  multi_label_classification: 32 saídas com sigmoide + BCEWithLogitsLoss.</a:t>
            </a:r>
          </a:p>
          <a:p>
            <a:pPr lvl="1">
              <a:spcBef>
                <a:spcPts val="0"/>
              </a:spcBef>
              <a:spcAft>
                <a:spcPts val="600"/>
              </a:spcAft>
            </a:pPr>
            <a:r>
              <a:rPr lang="pt-BR" sz="1450" b="0" i="0" noProof="0" dirty="0">
                <a:solidFill>
                  <a:srgbClr val="555555"/>
                </a:solidFill>
                <a:latin typeface="Calibri"/>
              </a:rPr>
              <a:t>–  max_length = 192; lr = 5e-5; treino em GPU RTX 3060.</a:t>
            </a:r>
          </a:p>
          <a:p>
            <a:pPr>
              <a:spcBef>
                <a:spcPts val="0"/>
              </a:spcBef>
              <a:spcAft>
                <a:spcPts val="600"/>
              </a:spcAft>
            </a:pPr>
            <a:r>
              <a:rPr lang="pt-BR" sz="1650" b="1" i="0" noProof="0" dirty="0">
                <a:solidFill>
                  <a:srgbClr val="1F3864"/>
                </a:solidFill>
                <a:latin typeface="Calibri"/>
              </a:rPr>
              <a:t>•  Comum aos dois:</a:t>
            </a:r>
          </a:p>
          <a:p>
            <a:pPr lvl="1">
              <a:spcBef>
                <a:spcPts val="0"/>
              </a:spcBef>
              <a:spcAft>
                <a:spcPts val="600"/>
              </a:spcAft>
            </a:pPr>
            <a:r>
              <a:rPr lang="pt-BR" sz="1450" b="0" i="0" noProof="0" dirty="0">
                <a:solidFill>
                  <a:srgbClr val="555555"/>
                </a:solidFill>
                <a:latin typeface="Calibri"/>
              </a:rPr>
              <a:t>–  rótulos multi-hot (MultiLabelBinarizer); split 70/15/15 estratificado iterativo (seed 42).</a:t>
            </a:r>
          </a:p>
          <a:p>
            <a:pPr lvl="1">
              <a:spcBef>
                <a:spcPts val="0"/>
              </a:spcBef>
              <a:spcAft>
                <a:spcPts val="600"/>
              </a:spcAft>
            </a:pPr>
            <a:r>
              <a:rPr lang="pt-BR" sz="1450" b="0" i="0" noProof="0" dirty="0">
                <a:solidFill>
                  <a:srgbClr val="555555"/>
                </a:solidFill>
                <a:latin typeface="Calibri"/>
              </a:rPr>
              <a:t>–  limiar por tema ajustado na validação (não 0,50 fixo).</a:t>
            </a:r>
          </a:p>
          <a:p>
            <a:pPr lvl="1">
              <a:spcBef>
                <a:spcPts val="0"/>
              </a:spcBef>
              <a:spcAft>
                <a:spcPts val="600"/>
              </a:spcAft>
            </a:pPr>
            <a:r>
              <a:rPr lang="pt-BR" sz="1450" b="1" i="0" noProof="0" dirty="0">
                <a:solidFill>
                  <a:srgbClr val="222222"/>
                </a:solidFill>
                <a:latin typeface="Calibri"/>
              </a:rPr>
              <a:t>–  Métrica principal: macro-F1 (2 cortes) + micro-F1.</a:t>
            </a:r>
          </a:p>
        </p:txBody>
      </p:sp>
      <p:pic>
        <p:nvPicPr>
          <p:cNvPr id="6" name="Picture 5" descr="arquitetura_modelo.png"/>
          <p:cNvPicPr>
            <a:picLocks noChangeAspect="1"/>
          </p:cNvPicPr>
          <p:nvPr/>
        </p:nvPicPr>
        <p:blipFill>
          <a:blip r:embed="rId3"/>
          <a:stretch>
            <a:fillRect/>
          </a:stretch>
        </p:blipFill>
        <p:spPr>
          <a:xfrm>
            <a:off x="8575711" y="1645920"/>
            <a:ext cx="3148257" cy="4983480"/>
          </a:xfrm>
          <a:prstGeom prst="rect">
            <a:avLst/>
          </a:prstGeom>
          <a:ln w="9525">
            <a:solidFill>
              <a:srgbClr val="CCCCCC"/>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5 · RESULTADOS</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Experimento principal: BERTimbau vs. baseline</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graphicFrame>
        <p:nvGraphicFramePr>
          <p:cNvPr id="5" name="Table 4"/>
          <p:cNvGraphicFramePr>
            <a:graphicFrameLocks noGrp="1"/>
          </p:cNvGraphicFramePr>
          <p:nvPr>
            <p:extLst>
              <p:ext uri="{D42A27DB-BD31-4B8C-83A1-F6EECF244321}">
                <p14:modId xmlns:p14="http://schemas.microsoft.com/office/powerpoint/2010/main" val="379648078"/>
              </p:ext>
            </p:extLst>
          </p:nvPr>
        </p:nvGraphicFramePr>
        <p:xfrm>
          <a:off x="566928" y="1783080"/>
          <a:ext cx="6583680" cy="237744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75488">
                <a:tc>
                  <a:txBody>
                    <a:bodyPr/>
                    <a:lstStyle/>
                    <a:p>
                      <a:pPr algn="l"/>
                      <a:r>
                        <a:rPr lang="pt-BR" sz="1250" b="1" i="0" noProof="0" dirty="0">
                          <a:solidFill>
                            <a:srgbClr val="FFFFFF"/>
                          </a:solidFill>
                          <a:latin typeface="Calibri"/>
                        </a:rPr>
                        <a:t>Modelo (limiar ajustado)</a:t>
                      </a:r>
                    </a:p>
                  </a:txBody>
                  <a:tcPr marL="76200" marR="76200" marT="38100" marB="38100" anchor="ctr">
                    <a:solidFill>
                      <a:srgbClr val="1F3864"/>
                    </a:solidFill>
                  </a:tcPr>
                </a:tc>
                <a:tc>
                  <a:txBody>
                    <a:bodyPr/>
                    <a:lstStyle/>
                    <a:p>
                      <a:pPr algn="ctr"/>
                      <a:r>
                        <a:rPr lang="pt-BR" sz="1250" b="1" i="0" noProof="0" dirty="0">
                          <a:solidFill>
                            <a:srgbClr val="FFFFFF"/>
                          </a:solidFill>
                          <a:latin typeface="Calibri"/>
                        </a:rPr>
                        <a:t>macro-F1
(32)</a:t>
                      </a:r>
                    </a:p>
                  </a:txBody>
                  <a:tcPr marL="76200" marR="76200" marT="38100" marB="38100" anchor="ctr">
                    <a:solidFill>
                      <a:srgbClr val="1F3864"/>
                    </a:solidFill>
                  </a:tcPr>
                </a:tc>
                <a:tc>
                  <a:txBody>
                    <a:bodyPr/>
                    <a:lstStyle/>
                    <a:p>
                      <a:pPr algn="ctr"/>
                      <a:r>
                        <a:rPr lang="pt-BR" sz="1250" b="1" i="0" noProof="0" dirty="0">
                          <a:solidFill>
                            <a:srgbClr val="FFFFFF"/>
                          </a:solidFill>
                          <a:latin typeface="Calibri"/>
                        </a:rPr>
                        <a:t>macro-F1
(≥200)</a:t>
                      </a:r>
                    </a:p>
                  </a:txBody>
                  <a:tcPr marL="76200" marR="76200" marT="38100" marB="38100" anchor="ctr">
                    <a:solidFill>
                      <a:srgbClr val="1F3864"/>
                    </a:solidFill>
                  </a:tcPr>
                </a:tc>
                <a:tc>
                  <a:txBody>
                    <a:bodyPr/>
                    <a:lstStyle/>
                    <a:p>
                      <a:pPr algn="ctr"/>
                      <a:r>
                        <a:rPr lang="pt-BR" sz="1250" b="1" i="0" noProof="0" dirty="0">
                          <a:solidFill>
                            <a:srgbClr val="FFFFFF"/>
                          </a:solidFill>
                          <a:latin typeface="Calibri"/>
                        </a:rPr>
                        <a:t>micro-F1</a:t>
                      </a:r>
                    </a:p>
                  </a:txBody>
                  <a:tcPr marL="76200" marR="76200" marT="38100" marB="38100" anchor="ctr">
                    <a:solidFill>
                      <a:srgbClr val="1F3864"/>
                    </a:solidFill>
                  </a:tcPr>
                </a:tc>
                <a:extLst>
                  <a:ext uri="{0D108BD9-81ED-4DB2-BD59-A6C34878D82A}">
                    <a16:rowId xmlns:a16="http://schemas.microsoft.com/office/drawing/2014/main" val="10000"/>
                  </a:ext>
                </a:extLst>
              </a:tr>
              <a:tr h="475488">
                <a:tc>
                  <a:txBody>
                    <a:bodyPr/>
                    <a:lstStyle/>
                    <a:p>
                      <a:pPr algn="l"/>
                      <a:r>
                        <a:rPr lang="pt-BR" sz="1200" b="0" i="0" noProof="0" dirty="0">
                          <a:solidFill>
                            <a:srgbClr val="222222"/>
                          </a:solidFill>
                          <a:latin typeface="Calibri"/>
                        </a:rPr>
                        <a:t>Baseline (limiar 0,50)</a:t>
                      </a:r>
                    </a:p>
                  </a:txBody>
                  <a:tcPr marL="76200" marR="76200" marT="38100" marB="38100" anchor="ctr">
                    <a:solidFill>
                      <a:srgbClr val="FFFFFF"/>
                    </a:solidFill>
                  </a:tcPr>
                </a:tc>
                <a:tc>
                  <a:txBody>
                    <a:bodyPr/>
                    <a:lstStyle/>
                    <a:p>
                      <a:pPr algn="ctr"/>
                      <a:r>
                        <a:rPr lang="pt-BR" sz="1200" b="0" i="0" noProof="0" dirty="0">
                          <a:solidFill>
                            <a:srgbClr val="222222"/>
                          </a:solidFill>
                          <a:latin typeface="Calibri"/>
                        </a:rPr>
                        <a:t>0,567</a:t>
                      </a:r>
                    </a:p>
                  </a:txBody>
                  <a:tcPr marL="76200" marR="76200" marT="38100" marB="38100" anchor="ctr">
                    <a:solidFill>
                      <a:srgbClr val="FFFFFF"/>
                    </a:solidFill>
                  </a:tcPr>
                </a:tc>
                <a:tc>
                  <a:txBody>
                    <a:bodyPr/>
                    <a:lstStyle/>
                    <a:p>
                      <a:pPr algn="ctr"/>
                      <a:r>
                        <a:rPr lang="pt-BR" sz="1200" b="0" i="0" noProof="0" dirty="0">
                          <a:solidFill>
                            <a:srgbClr val="222222"/>
                          </a:solidFill>
                          <a:latin typeface="Calibri"/>
                        </a:rPr>
                        <a:t>0,620</a:t>
                      </a:r>
                    </a:p>
                  </a:txBody>
                  <a:tcPr marL="76200" marR="76200" marT="38100" marB="38100" anchor="ctr">
                    <a:solidFill>
                      <a:srgbClr val="FFFFFF"/>
                    </a:solidFill>
                  </a:tcPr>
                </a:tc>
                <a:tc>
                  <a:txBody>
                    <a:bodyPr/>
                    <a:lstStyle/>
                    <a:p>
                      <a:pPr algn="ctr"/>
                      <a:r>
                        <a:rPr lang="pt-BR" sz="1200" b="0" i="0" noProof="0" dirty="0">
                          <a:solidFill>
                            <a:srgbClr val="222222"/>
                          </a:solidFill>
                          <a:latin typeface="Calibri"/>
                        </a:rPr>
                        <a:t>0,650</a:t>
                      </a:r>
                    </a:p>
                  </a:txBody>
                  <a:tcPr marL="76200" marR="76200" marT="38100" marB="38100" anchor="ctr">
                    <a:solidFill>
                      <a:srgbClr val="FFFFFF"/>
                    </a:solidFill>
                  </a:tcPr>
                </a:tc>
                <a:extLst>
                  <a:ext uri="{0D108BD9-81ED-4DB2-BD59-A6C34878D82A}">
                    <a16:rowId xmlns:a16="http://schemas.microsoft.com/office/drawing/2014/main" val="10001"/>
                  </a:ext>
                </a:extLst>
              </a:tr>
              <a:tr h="475488">
                <a:tc>
                  <a:txBody>
                    <a:bodyPr/>
                    <a:lstStyle/>
                    <a:p>
                      <a:pPr algn="l"/>
                      <a:r>
                        <a:rPr lang="pt-BR" sz="1200" b="0" i="0" noProof="0" dirty="0">
                          <a:solidFill>
                            <a:srgbClr val="222222"/>
                          </a:solidFill>
                          <a:latin typeface="Calibri"/>
                        </a:rPr>
                        <a:t>Baseline TF-IDF + LogReg</a:t>
                      </a:r>
                    </a:p>
                  </a:txBody>
                  <a:tcPr marL="76200" marR="76200" marT="38100" marB="38100" anchor="ctr">
                    <a:solidFill>
                      <a:srgbClr val="F2F4F8"/>
                    </a:solidFill>
                  </a:tcPr>
                </a:tc>
                <a:tc>
                  <a:txBody>
                    <a:bodyPr/>
                    <a:lstStyle/>
                    <a:p>
                      <a:pPr algn="ctr"/>
                      <a:r>
                        <a:rPr lang="pt-BR" sz="1200" b="0" i="0" noProof="0" dirty="0">
                          <a:solidFill>
                            <a:srgbClr val="222222"/>
                          </a:solidFill>
                          <a:latin typeface="Calibri"/>
                        </a:rPr>
                        <a:t>0,584</a:t>
                      </a:r>
                    </a:p>
                  </a:txBody>
                  <a:tcPr marL="76200" marR="76200" marT="38100" marB="38100" anchor="ctr">
                    <a:solidFill>
                      <a:srgbClr val="F2F4F8"/>
                    </a:solidFill>
                  </a:tcPr>
                </a:tc>
                <a:tc>
                  <a:txBody>
                    <a:bodyPr/>
                    <a:lstStyle/>
                    <a:p>
                      <a:pPr algn="ctr"/>
                      <a:r>
                        <a:rPr lang="pt-BR" sz="1200" b="0" i="0" noProof="0" dirty="0">
                          <a:solidFill>
                            <a:srgbClr val="222222"/>
                          </a:solidFill>
                          <a:latin typeface="Calibri"/>
                        </a:rPr>
                        <a:t>0,639</a:t>
                      </a:r>
                    </a:p>
                  </a:txBody>
                  <a:tcPr marL="76200" marR="76200" marT="38100" marB="38100" anchor="ctr">
                    <a:solidFill>
                      <a:srgbClr val="F2F4F8"/>
                    </a:solidFill>
                  </a:tcPr>
                </a:tc>
                <a:tc>
                  <a:txBody>
                    <a:bodyPr/>
                    <a:lstStyle/>
                    <a:p>
                      <a:pPr algn="ctr"/>
                      <a:r>
                        <a:rPr lang="pt-BR" sz="1200" b="0" i="0" noProof="0" dirty="0">
                          <a:solidFill>
                            <a:srgbClr val="222222"/>
                          </a:solidFill>
                          <a:latin typeface="Calibri"/>
                        </a:rPr>
                        <a:t>0,675</a:t>
                      </a:r>
                    </a:p>
                  </a:txBody>
                  <a:tcPr marL="76200" marR="76200" marT="38100" marB="38100" anchor="ctr">
                    <a:solidFill>
                      <a:srgbClr val="F2F4F8"/>
                    </a:solidFill>
                  </a:tcPr>
                </a:tc>
                <a:extLst>
                  <a:ext uri="{0D108BD9-81ED-4DB2-BD59-A6C34878D82A}">
                    <a16:rowId xmlns:a16="http://schemas.microsoft.com/office/drawing/2014/main" val="10002"/>
                  </a:ext>
                </a:extLst>
              </a:tr>
              <a:tr h="475488">
                <a:tc>
                  <a:txBody>
                    <a:bodyPr/>
                    <a:lstStyle/>
                    <a:p>
                      <a:pPr algn="l"/>
                      <a:r>
                        <a:rPr lang="pt-BR" sz="1200" b="0" i="0" noProof="0" dirty="0">
                          <a:solidFill>
                            <a:srgbClr val="222222"/>
                          </a:solidFill>
                          <a:latin typeface="Calibri"/>
                        </a:rPr>
                        <a:t>BERTimbau (limiar 0,50)</a:t>
                      </a:r>
                    </a:p>
                  </a:txBody>
                  <a:tcPr marL="76200" marR="76200" marT="38100" marB="38100" anchor="ctr">
                    <a:solidFill>
                      <a:srgbClr val="FFFFFF"/>
                    </a:solidFill>
                  </a:tcPr>
                </a:tc>
                <a:tc>
                  <a:txBody>
                    <a:bodyPr/>
                    <a:lstStyle/>
                    <a:p>
                      <a:pPr algn="ctr"/>
                      <a:r>
                        <a:rPr lang="pt-BR" sz="1200" b="0" i="0" noProof="0" dirty="0">
                          <a:solidFill>
                            <a:srgbClr val="222222"/>
                          </a:solidFill>
                          <a:latin typeface="Calibri"/>
                        </a:rPr>
                        <a:t>0,601</a:t>
                      </a:r>
                    </a:p>
                  </a:txBody>
                  <a:tcPr marL="76200" marR="76200" marT="38100" marB="38100" anchor="ctr">
                    <a:solidFill>
                      <a:srgbClr val="FFFFFF"/>
                    </a:solidFill>
                  </a:tcPr>
                </a:tc>
                <a:tc>
                  <a:txBody>
                    <a:bodyPr/>
                    <a:lstStyle/>
                    <a:p>
                      <a:pPr algn="ctr"/>
                      <a:r>
                        <a:rPr lang="pt-BR" sz="1200" b="0" i="0" noProof="0" dirty="0">
                          <a:solidFill>
                            <a:srgbClr val="222222"/>
                          </a:solidFill>
                          <a:latin typeface="Calibri"/>
                        </a:rPr>
                        <a:t>0,687</a:t>
                      </a:r>
                    </a:p>
                  </a:txBody>
                  <a:tcPr marL="76200" marR="76200" marT="38100" marB="38100" anchor="ctr">
                    <a:solidFill>
                      <a:srgbClr val="FFFFFF"/>
                    </a:solidFill>
                  </a:tcPr>
                </a:tc>
                <a:tc>
                  <a:txBody>
                    <a:bodyPr/>
                    <a:lstStyle/>
                    <a:p>
                      <a:pPr algn="ctr"/>
                      <a:r>
                        <a:rPr lang="pt-BR" sz="1200" b="0" i="0" noProof="0" dirty="0">
                          <a:solidFill>
                            <a:srgbClr val="222222"/>
                          </a:solidFill>
                          <a:latin typeface="Calibri"/>
                        </a:rPr>
                        <a:t>0,724</a:t>
                      </a:r>
                    </a:p>
                  </a:txBody>
                  <a:tcPr marL="76200" marR="76200" marT="38100" marB="38100" anchor="ctr">
                    <a:solidFill>
                      <a:srgbClr val="FFFFFF"/>
                    </a:solidFill>
                  </a:tcPr>
                </a:tc>
                <a:extLst>
                  <a:ext uri="{0D108BD9-81ED-4DB2-BD59-A6C34878D82A}">
                    <a16:rowId xmlns:a16="http://schemas.microsoft.com/office/drawing/2014/main" val="10003"/>
                  </a:ext>
                </a:extLst>
              </a:tr>
              <a:tr h="475488">
                <a:tc>
                  <a:txBody>
                    <a:bodyPr/>
                    <a:lstStyle/>
                    <a:p>
                      <a:pPr algn="l"/>
                      <a:r>
                        <a:rPr lang="pt-BR" sz="1200" b="1" i="0" noProof="0" dirty="0">
                          <a:solidFill>
                            <a:srgbClr val="1F3864"/>
                          </a:solidFill>
                          <a:latin typeface="Calibri"/>
                        </a:rPr>
                        <a:t>BERTimbau</a:t>
                      </a:r>
                    </a:p>
                  </a:txBody>
                  <a:tcPr marL="76200" marR="76200" marT="38100" marB="38100" anchor="ctr">
                    <a:solidFill>
                      <a:srgbClr val="DDE6F5"/>
                    </a:solidFill>
                  </a:tcPr>
                </a:tc>
                <a:tc>
                  <a:txBody>
                    <a:bodyPr/>
                    <a:lstStyle/>
                    <a:p>
                      <a:pPr algn="ctr"/>
                      <a:r>
                        <a:rPr lang="pt-BR" sz="1200" b="1" i="0" noProof="0" dirty="0">
                          <a:solidFill>
                            <a:srgbClr val="1F3864"/>
                          </a:solidFill>
                          <a:latin typeface="Calibri"/>
                        </a:rPr>
                        <a:t>0,632</a:t>
                      </a:r>
                    </a:p>
                  </a:txBody>
                  <a:tcPr marL="76200" marR="76200" marT="38100" marB="38100" anchor="ctr">
                    <a:solidFill>
                      <a:srgbClr val="DDE6F5"/>
                    </a:solidFill>
                  </a:tcPr>
                </a:tc>
                <a:tc>
                  <a:txBody>
                    <a:bodyPr/>
                    <a:lstStyle/>
                    <a:p>
                      <a:pPr algn="ctr"/>
                      <a:r>
                        <a:rPr lang="pt-BR" sz="1200" b="1" i="0" noProof="0" dirty="0">
                          <a:solidFill>
                            <a:srgbClr val="1F3864"/>
                          </a:solidFill>
                          <a:latin typeface="Calibri"/>
                        </a:rPr>
                        <a:t>0,700</a:t>
                      </a:r>
                    </a:p>
                  </a:txBody>
                  <a:tcPr marL="76200" marR="76200" marT="38100" marB="38100" anchor="ctr">
                    <a:solidFill>
                      <a:srgbClr val="DDE6F5"/>
                    </a:solidFill>
                  </a:tcPr>
                </a:tc>
                <a:tc>
                  <a:txBody>
                    <a:bodyPr/>
                    <a:lstStyle/>
                    <a:p>
                      <a:pPr algn="ctr"/>
                      <a:r>
                        <a:rPr lang="pt-BR" sz="1200" b="1" i="0" noProof="0" dirty="0">
                          <a:solidFill>
                            <a:srgbClr val="1F3864"/>
                          </a:solidFill>
                          <a:latin typeface="Calibri"/>
                        </a:rPr>
                        <a:t>0,723</a:t>
                      </a:r>
                    </a:p>
                  </a:txBody>
                  <a:tcPr marL="76200" marR="76200" marT="38100" marB="38100" anchor="ctr">
                    <a:solidFill>
                      <a:srgbClr val="DDE6F5"/>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66928" y="4343400"/>
            <a:ext cx="6583680" cy="1220847"/>
          </a:xfrm>
          <a:prstGeom prst="rect">
            <a:avLst/>
          </a:prstGeom>
          <a:noFill/>
        </p:spPr>
        <p:txBody>
          <a:bodyPr wrap="square">
            <a:spAutoFit/>
          </a:bodyPr>
          <a:lstStyle/>
          <a:p>
            <a:pPr>
              <a:spcBef>
                <a:spcPts val="0"/>
              </a:spcBef>
              <a:spcAft>
                <a:spcPts val="800"/>
              </a:spcAft>
            </a:pPr>
            <a:r>
              <a:rPr lang="pt-BR" sz="1500" b="1" i="0" noProof="0" dirty="0">
                <a:solidFill>
                  <a:srgbClr val="1E6B3A"/>
                </a:solidFill>
                <a:latin typeface="Calibri"/>
              </a:rPr>
              <a:t>•  BERTimbau supera o baseline: macro-F1 (≥200) 0,639 → 0,700 (+0,061).</a:t>
            </a:r>
          </a:p>
          <a:p>
            <a:pPr>
              <a:spcBef>
                <a:spcPts val="0"/>
              </a:spcBef>
              <a:spcAft>
                <a:spcPts val="800"/>
              </a:spcAft>
            </a:pPr>
            <a:r>
              <a:rPr lang="pt-BR" sz="1500" b="0" i="0" noProof="0" dirty="0">
                <a:solidFill>
                  <a:srgbClr val="222222"/>
                </a:solidFill>
                <a:latin typeface="Calibri"/>
              </a:rPr>
              <a:t>•  O ajuste de limiar por tema ajuda principalmente o macro-F1.</a:t>
            </a:r>
          </a:p>
          <a:p>
            <a:pPr>
              <a:spcBef>
                <a:spcPts val="0"/>
              </a:spcBef>
              <a:spcAft>
                <a:spcPts val="800"/>
              </a:spcAft>
            </a:pPr>
            <a:r>
              <a:rPr lang="pt-BR" sz="1500" b="0" i="0" noProof="0" dirty="0">
                <a:solidFill>
                  <a:srgbClr val="222222"/>
                </a:solidFill>
                <a:latin typeface="Calibri"/>
              </a:rPr>
              <a:t>•  Baseline e competitivo: ementas são curtas, formais e ricas em termos indicativos do tema.</a:t>
            </a:r>
          </a:p>
        </p:txBody>
      </p:sp>
      <p:pic>
        <p:nvPicPr>
          <p:cNvPr id="7" name="Picture 6" descr="suporte_por_tema.png"/>
          <p:cNvPicPr>
            <a:picLocks noChangeAspect="1"/>
          </p:cNvPicPr>
          <p:nvPr/>
        </p:nvPicPr>
        <p:blipFill>
          <a:blip r:embed="rId3"/>
          <a:stretch>
            <a:fillRect/>
          </a:stretch>
        </p:blipFill>
        <p:spPr>
          <a:xfrm>
            <a:off x="7406640" y="3177527"/>
            <a:ext cx="4526280" cy="2240305"/>
          </a:xfrm>
          <a:prstGeom prst="rect">
            <a:avLst/>
          </a:prstGeom>
          <a:ln w="9525">
            <a:solidFill>
              <a:srgbClr val="CCCCCC"/>
            </a:solidFill>
          </a:ln>
        </p:spPr>
      </p:pic>
      <p:sp>
        <p:nvSpPr>
          <p:cNvPr id="8" name="TextBox 7"/>
          <p:cNvSpPr txBox="1"/>
          <p:nvPr/>
        </p:nvSpPr>
        <p:spPr>
          <a:xfrm>
            <a:off x="7406640" y="5989320"/>
            <a:ext cx="4526280" cy="548640"/>
          </a:xfrm>
          <a:prstGeom prst="rect">
            <a:avLst/>
          </a:prstGeom>
          <a:noFill/>
        </p:spPr>
        <p:txBody>
          <a:bodyPr wrap="square">
            <a:spAutoFit/>
          </a:bodyPr>
          <a:lstStyle/>
          <a:p>
            <a:r>
              <a:rPr lang="pt-BR" sz="1100" b="0" i="1" noProof="0" dirty="0">
                <a:solidFill>
                  <a:srgbClr val="555555"/>
                </a:solidFill>
                <a:latin typeface="Calibri"/>
              </a:rPr>
              <a:t>Suporte por tema: verde ≥ 200, vermelho = cauda longa.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5 · RESULTADOS</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Diferencial: domain shift e "fala vs. faz"</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37360"/>
            <a:ext cx="6400800" cy="3385542"/>
          </a:xfrm>
          <a:prstGeom prst="rect">
            <a:avLst/>
          </a:prstGeom>
          <a:noFill/>
        </p:spPr>
        <p:txBody>
          <a:bodyPr wrap="square">
            <a:spAutoFit/>
          </a:bodyPr>
          <a:lstStyle/>
          <a:p>
            <a:pPr>
              <a:spcBef>
                <a:spcPts val="0"/>
              </a:spcBef>
              <a:spcAft>
                <a:spcPts val="800"/>
              </a:spcAft>
            </a:pPr>
            <a:r>
              <a:rPr lang="pt-BR" sz="1550" b="0" i="0" noProof="0" dirty="0">
                <a:solidFill>
                  <a:srgbClr val="222222"/>
                </a:solidFill>
                <a:latin typeface="Calibri"/>
              </a:rPr>
              <a:t>•  Modelo (treinado em ementas) aplicado a 46.683 discursos de 488 deputados, sem novo treino.</a:t>
            </a:r>
          </a:p>
          <a:p>
            <a:pPr lvl="1">
              <a:spcBef>
                <a:spcPts val="0"/>
              </a:spcBef>
              <a:spcAft>
                <a:spcPts val="800"/>
              </a:spcAft>
            </a:pPr>
            <a:r>
              <a:rPr lang="pt-BR" sz="1350" b="0" i="0" noProof="0" dirty="0">
                <a:solidFill>
                  <a:srgbClr val="555555"/>
                </a:solidFill>
                <a:latin typeface="Calibri"/>
              </a:rPr>
              <a:t>–  Discursos longos → chunking em janelas de 192 tokens, agregando por máximo.</a:t>
            </a:r>
          </a:p>
          <a:p>
            <a:pPr>
              <a:spcBef>
                <a:spcPts val="0"/>
              </a:spcBef>
              <a:spcAft>
                <a:spcPts val="800"/>
              </a:spcAft>
            </a:pPr>
            <a:r>
              <a:rPr lang="pt-BR" sz="1550" b="1" i="0" noProof="0" dirty="0">
                <a:solidFill>
                  <a:srgbClr val="9B2C2C"/>
                </a:solidFill>
                <a:latin typeface="Calibri"/>
              </a:rPr>
              <a:t>•  Domain shift: macro-F1 (≥200) cai de 0,700 (ementas) → 0,569 (discursos).</a:t>
            </a:r>
          </a:p>
          <a:p>
            <a:pPr lvl="1">
              <a:spcBef>
                <a:spcPts val="0"/>
              </a:spcBef>
              <a:spcAft>
                <a:spcPts val="800"/>
              </a:spcAft>
            </a:pPr>
            <a:r>
              <a:rPr lang="pt-BR" sz="1350" b="0" i="0" noProof="0" dirty="0">
                <a:solidFill>
                  <a:srgbClr val="555555"/>
                </a:solidFill>
                <a:latin typeface="Calibri"/>
              </a:rPr>
              <a:t>–  </a:t>
            </a:r>
            <a:r>
              <a:rPr lang="pt-BR" sz="1350" b="0" i="0" noProof="0" dirty="0" err="1">
                <a:solidFill>
                  <a:srgbClr val="555555"/>
                </a:solidFill>
                <a:latin typeface="Calibri"/>
              </a:rPr>
              <a:t>Sobre-rotulação</a:t>
            </a:r>
            <a:r>
              <a:rPr lang="pt-BR" sz="1350" b="0" i="0" noProof="0" dirty="0">
                <a:solidFill>
                  <a:srgbClr val="555555"/>
                </a:solidFill>
                <a:latin typeface="Calibri"/>
              </a:rPr>
              <a:t>: 5,92 temas/discurso previstos vs. 3,43 da referência (alta revocação, baixa precisão).</a:t>
            </a:r>
          </a:p>
          <a:p>
            <a:pPr>
              <a:spcBef>
                <a:spcPts val="0"/>
              </a:spcBef>
              <a:spcAft>
                <a:spcPts val="800"/>
              </a:spcAft>
            </a:pPr>
            <a:r>
              <a:rPr lang="pt-BR" sz="1550" b="1" i="0" noProof="0" dirty="0">
                <a:solidFill>
                  <a:srgbClr val="1F3864"/>
                </a:solidFill>
                <a:latin typeface="Calibri"/>
              </a:rPr>
              <a:t>•  "Fala vs. faz": cruzamos agenda discursiva x legislativa por deputado e partido.</a:t>
            </a:r>
          </a:p>
          <a:p>
            <a:pPr lvl="1">
              <a:spcBef>
                <a:spcPts val="0"/>
              </a:spcBef>
              <a:spcAft>
                <a:spcPts val="800"/>
              </a:spcAft>
            </a:pPr>
            <a:r>
              <a:rPr lang="pt-BR" sz="1350" b="0" i="0" noProof="0" dirty="0">
                <a:solidFill>
                  <a:srgbClr val="555555"/>
                </a:solidFill>
                <a:latin typeface="Calibri"/>
              </a:rPr>
              <a:t>–  Ex.: Pastor Eurico fala muito de cultura/religião; Altineu Cortes propõe mais em direito penal.</a:t>
            </a:r>
          </a:p>
          <a:p>
            <a:pPr lvl="1">
              <a:spcBef>
                <a:spcPts val="0"/>
              </a:spcBef>
              <a:spcAft>
                <a:spcPts val="800"/>
              </a:spcAft>
            </a:pPr>
            <a:r>
              <a:rPr lang="pt-BR" sz="1350" b="0" i="0" noProof="0" dirty="0">
                <a:solidFill>
                  <a:srgbClr val="555555"/>
                </a:solidFill>
                <a:latin typeface="Calibri"/>
              </a:rPr>
              <a:t>–  Analise exploratória e agregada (rotulo de discurso e ruidoso sob domain shift).</a:t>
            </a:r>
          </a:p>
        </p:txBody>
      </p:sp>
      <p:pic>
        <p:nvPicPr>
          <p:cNvPr id="6" name="Picture 5" descr="fala_vs_faz.png"/>
          <p:cNvPicPr>
            <a:picLocks noChangeAspect="1"/>
          </p:cNvPicPr>
          <p:nvPr/>
        </p:nvPicPr>
        <p:blipFill>
          <a:blip r:embed="rId3"/>
          <a:stretch>
            <a:fillRect/>
          </a:stretch>
        </p:blipFill>
        <p:spPr>
          <a:xfrm>
            <a:off x="7086600" y="2103120"/>
            <a:ext cx="4846320" cy="1585792"/>
          </a:xfrm>
          <a:prstGeom prst="rect">
            <a:avLst/>
          </a:prstGeom>
          <a:ln w="9525">
            <a:solidFill>
              <a:srgbClr val="CCCCCC"/>
            </a:solidFill>
          </a:ln>
        </p:spPr>
      </p:pic>
      <p:sp>
        <p:nvSpPr>
          <p:cNvPr id="7" name="TextBox 6"/>
          <p:cNvSpPr txBox="1"/>
          <p:nvPr/>
        </p:nvSpPr>
        <p:spPr>
          <a:xfrm>
            <a:off x="7086600" y="4983480"/>
            <a:ext cx="4846320" cy="548640"/>
          </a:xfrm>
          <a:prstGeom prst="rect">
            <a:avLst/>
          </a:prstGeom>
          <a:noFill/>
        </p:spPr>
        <p:txBody>
          <a:bodyPr wrap="square">
            <a:spAutoFit/>
          </a:bodyPr>
          <a:lstStyle/>
          <a:p>
            <a:r>
              <a:rPr lang="pt-BR" sz="1100" b="0" i="1" noProof="0" dirty="0">
                <a:solidFill>
                  <a:srgbClr val="555555"/>
                </a:solidFill>
                <a:latin typeface="Calibri"/>
              </a:rPr>
              <a:t>Agenda discursiva (Y) x legislativa (X) por deputado.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6 · DISCUSSAO</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Resolveu o problema? Quais os limites?</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83080"/>
            <a:ext cx="11064240" cy="2931572"/>
          </a:xfrm>
          <a:prstGeom prst="rect">
            <a:avLst/>
          </a:prstGeom>
          <a:noFill/>
        </p:spPr>
        <p:txBody>
          <a:bodyPr wrap="square">
            <a:spAutoFit/>
          </a:bodyPr>
          <a:lstStyle/>
          <a:p>
            <a:pPr>
              <a:spcBef>
                <a:spcPts val="0"/>
              </a:spcBef>
              <a:spcAft>
                <a:spcPts val="900"/>
              </a:spcAft>
            </a:pPr>
            <a:r>
              <a:rPr lang="pt-BR" sz="1800" b="1" i="0" noProof="0" dirty="0">
                <a:solidFill>
                  <a:srgbClr val="1E6B3A"/>
                </a:solidFill>
                <a:latin typeface="Calibri"/>
              </a:rPr>
              <a:t>•  Sim, como ferramenta de apoio:</a:t>
            </a:r>
          </a:p>
          <a:p>
            <a:pPr lvl="1">
              <a:spcBef>
                <a:spcPts val="0"/>
              </a:spcBef>
              <a:spcAft>
                <a:spcPts val="900"/>
              </a:spcAft>
            </a:pPr>
            <a:r>
              <a:rPr lang="pt-BR" sz="1600" b="0" i="0" noProof="0" dirty="0">
                <a:solidFill>
                  <a:srgbClr val="555555"/>
                </a:solidFill>
                <a:latin typeface="Calibri"/>
              </a:rPr>
              <a:t>–  macro-F1 0,700 nos temas bem representados → útil para sugerir temas, busca e estatísticas agregadas.</a:t>
            </a:r>
          </a:p>
          <a:p>
            <a:pPr lvl="1">
              <a:spcBef>
                <a:spcPts val="0"/>
              </a:spcBef>
              <a:spcAft>
                <a:spcPts val="900"/>
              </a:spcAft>
            </a:pPr>
            <a:r>
              <a:rPr lang="pt-BR" sz="1600" b="0" i="0" noProof="0" dirty="0">
                <a:solidFill>
                  <a:srgbClr val="555555"/>
                </a:solidFill>
                <a:latin typeface="Calibri"/>
              </a:rPr>
              <a:t>–  Não substitui o especialista — uso recomendado com humano no circuito.</a:t>
            </a:r>
          </a:p>
          <a:p>
            <a:pPr>
              <a:spcBef>
                <a:spcPts val="0"/>
              </a:spcBef>
              <a:spcAft>
                <a:spcPts val="900"/>
              </a:spcAft>
            </a:pPr>
            <a:r>
              <a:rPr lang="pt-BR" sz="1800" b="1" i="0" noProof="0" dirty="0">
                <a:solidFill>
                  <a:srgbClr val="9B2C2C"/>
                </a:solidFill>
                <a:latin typeface="Calibri"/>
              </a:rPr>
              <a:t>•  Limites:</a:t>
            </a:r>
          </a:p>
          <a:p>
            <a:pPr lvl="1">
              <a:spcBef>
                <a:spcPts val="0"/>
              </a:spcBef>
              <a:spcAft>
                <a:spcPts val="900"/>
              </a:spcAft>
            </a:pPr>
            <a:r>
              <a:rPr lang="pt-BR" sz="1600" b="0" i="0" noProof="0" dirty="0">
                <a:solidFill>
                  <a:srgbClr val="555555"/>
                </a:solidFill>
                <a:latin typeface="Calibri"/>
              </a:rPr>
              <a:t>–  cauda longa: 4 temas com pouquíssimos exemplos (F1 ~ 0).</a:t>
            </a:r>
          </a:p>
          <a:p>
            <a:pPr lvl="1">
              <a:spcBef>
                <a:spcPts val="0"/>
              </a:spcBef>
              <a:spcAft>
                <a:spcPts val="900"/>
              </a:spcAft>
            </a:pPr>
            <a:r>
              <a:rPr lang="pt-BR" sz="1600" b="0" i="0" noProof="0" dirty="0">
                <a:solidFill>
                  <a:srgbClr val="555555"/>
                </a:solidFill>
                <a:latin typeface="Calibri"/>
              </a:rPr>
              <a:t>–  subjetividade do próprio rotulo do CEDI (anotadores podem divergir de boa-fé).</a:t>
            </a:r>
          </a:p>
          <a:p>
            <a:pPr lvl="1">
              <a:spcBef>
                <a:spcPts val="0"/>
              </a:spcBef>
              <a:spcAft>
                <a:spcPts val="900"/>
              </a:spcAft>
            </a:pPr>
            <a:r>
              <a:rPr lang="pt-BR" sz="1600" b="0" i="0" noProof="0" dirty="0">
                <a:solidFill>
                  <a:srgbClr val="555555"/>
                </a:solidFill>
                <a:latin typeface="Calibri"/>
              </a:rPr>
              <a:t>–  domain shift nos discursos: queda de desempenho + sobre rotulação.</a:t>
            </a:r>
          </a:p>
          <a:p>
            <a:pPr lvl="1">
              <a:spcBef>
                <a:spcPts val="0"/>
              </a:spcBef>
              <a:spcAft>
                <a:spcPts val="900"/>
              </a:spcAft>
            </a:pPr>
            <a:r>
              <a:rPr lang="pt-BR" sz="1600" b="0" i="0" noProof="0" dirty="0">
                <a:solidFill>
                  <a:srgbClr val="555555"/>
                </a:solidFill>
                <a:latin typeface="Calibri"/>
              </a:rPr>
              <a:t>–  avaliação dos discursos por amostra rotulada por LLM (vieses) e cobertura de 88,2% dos autores.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7 · CONCLUSAO</a:t>
            </a:r>
          </a:p>
        </p:txBody>
      </p:sp>
      <p:sp>
        <p:nvSpPr>
          <p:cNvPr id="3" name="TextBox 2"/>
          <p:cNvSpPr txBox="1"/>
          <p:nvPr/>
        </p:nvSpPr>
        <p:spPr>
          <a:xfrm>
            <a:off x="548640" y="621792"/>
            <a:ext cx="11064240" cy="553998"/>
          </a:xfrm>
          <a:prstGeom prst="rect">
            <a:avLst/>
          </a:prstGeom>
          <a:noFill/>
        </p:spPr>
        <p:txBody>
          <a:bodyPr wrap="square">
            <a:spAutoFit/>
          </a:bodyPr>
          <a:lstStyle/>
          <a:p>
            <a:r>
              <a:rPr lang="pt-BR" sz="3000" b="1" i="0" noProof="0" dirty="0">
                <a:solidFill>
                  <a:srgbClr val="1F3864"/>
                </a:solidFill>
                <a:latin typeface="Cambria"/>
              </a:rPr>
              <a:t>Qual a principal contribuição?</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83080"/>
            <a:ext cx="11064240" cy="2785378"/>
          </a:xfrm>
          <a:prstGeom prst="rect">
            <a:avLst/>
          </a:prstGeom>
          <a:noFill/>
        </p:spPr>
        <p:txBody>
          <a:bodyPr wrap="square">
            <a:spAutoFit/>
          </a:bodyPr>
          <a:lstStyle/>
          <a:p>
            <a:pPr>
              <a:spcBef>
                <a:spcPts val="0"/>
              </a:spcBef>
              <a:spcAft>
                <a:spcPts val="1000"/>
              </a:spcAft>
            </a:pPr>
            <a:r>
              <a:rPr lang="pt-BR" sz="1900" b="1" i="0" noProof="0" dirty="0">
                <a:solidFill>
                  <a:srgbClr val="1F3864"/>
                </a:solidFill>
                <a:latin typeface="Calibri"/>
              </a:rPr>
              <a:t>•  Pipeline completo e reprodutível para classificação multirrótulo de PLs:</a:t>
            </a:r>
          </a:p>
          <a:p>
            <a:pPr lvl="1">
              <a:spcBef>
                <a:spcPts val="0"/>
              </a:spcBef>
              <a:spcAft>
                <a:spcPts val="1000"/>
              </a:spcAft>
            </a:pPr>
            <a:r>
              <a:rPr lang="pt-BR" sz="1700" b="0" i="0" noProof="0" dirty="0">
                <a:solidFill>
                  <a:srgbClr val="555555"/>
                </a:solidFill>
                <a:latin typeface="Calibri"/>
              </a:rPr>
              <a:t>–  coleta própria (API) → baseline → fine-tuning do BERTimbau → avaliação critica.</a:t>
            </a:r>
          </a:p>
          <a:p>
            <a:pPr>
              <a:spcBef>
                <a:spcPts val="0"/>
              </a:spcBef>
              <a:spcAft>
                <a:spcPts val="1000"/>
              </a:spcAft>
            </a:pPr>
            <a:r>
              <a:rPr lang="pt-BR" sz="1900" b="0" i="0" noProof="0" dirty="0">
                <a:solidFill>
                  <a:srgbClr val="222222"/>
                </a:solidFill>
                <a:latin typeface="Calibri"/>
              </a:rPr>
              <a:t>•  BERTimbau supera o baseline (macro-F1 0,700 nos temas ≥200)...</a:t>
            </a:r>
          </a:p>
          <a:p>
            <a:pPr lvl="1">
              <a:spcBef>
                <a:spcPts val="0"/>
              </a:spcBef>
              <a:spcAft>
                <a:spcPts val="1000"/>
              </a:spcAft>
            </a:pPr>
            <a:r>
              <a:rPr lang="pt-BR" sz="1700" b="0" i="0" noProof="0" dirty="0">
                <a:solidFill>
                  <a:srgbClr val="555555"/>
                </a:solidFill>
                <a:latin typeface="Calibri"/>
              </a:rPr>
              <a:t>–  ...mas o baseline TF-IDF e competitivo em textos curtos e padronizados como ementas.</a:t>
            </a:r>
          </a:p>
          <a:p>
            <a:pPr>
              <a:spcBef>
                <a:spcPts val="0"/>
              </a:spcBef>
              <a:spcAft>
                <a:spcPts val="1000"/>
              </a:spcAft>
            </a:pPr>
            <a:r>
              <a:rPr lang="pt-BR" sz="1900" b="1" i="0" noProof="0" dirty="0">
                <a:solidFill>
                  <a:srgbClr val="1F3864"/>
                </a:solidFill>
                <a:latin typeface="Calibri"/>
              </a:rPr>
              <a:t>•  Principal diferencial: estudo de domain shift</a:t>
            </a:r>
          </a:p>
          <a:p>
            <a:pPr lvl="1">
              <a:spcBef>
                <a:spcPts val="0"/>
              </a:spcBef>
              <a:spcAft>
                <a:spcPts val="1000"/>
              </a:spcAft>
            </a:pPr>
            <a:r>
              <a:rPr lang="pt-BR" sz="1700" b="0" i="0" noProof="0" dirty="0">
                <a:solidFill>
                  <a:srgbClr val="555555"/>
                </a:solidFill>
                <a:latin typeface="Calibri"/>
              </a:rPr>
              <a:t>–  aplicar o modelo a discursos mostrou, na pratica, a perda de desempenho entre domínios.</a:t>
            </a:r>
          </a:p>
          <a:p>
            <a:pPr lvl="1">
              <a:spcBef>
                <a:spcPts val="0"/>
              </a:spcBef>
              <a:spcAft>
                <a:spcPts val="1000"/>
              </a:spcAft>
            </a:pPr>
            <a:r>
              <a:rPr lang="pt-BR" sz="1700" b="0" i="0" noProof="0" dirty="0">
                <a:solidFill>
                  <a:srgbClr val="555555"/>
                </a:solidFill>
                <a:latin typeface="Calibri"/>
              </a:rPr>
              <a:t>–  E habilitou a analise exploratória "fala vs. faz" da atuação parlamentar.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365760"/>
          </a:xfrm>
          <a:prstGeom prst="rect">
            <a:avLst/>
          </a:prstGeom>
          <a:noFill/>
        </p:spPr>
        <p:txBody>
          <a:bodyPr wrap="square">
            <a:spAutoFit/>
          </a:bodyPr>
          <a:lstStyle/>
          <a:p>
            <a:r>
              <a:rPr lang="pt-BR" sz="1300" b="1" i="0" noProof="0" dirty="0">
                <a:solidFill>
                  <a:srgbClr val="2E4E8A"/>
                </a:solidFill>
                <a:latin typeface="Calibri"/>
              </a:rPr>
              <a:t>8 · PROXIMOS PASSOS</a:t>
            </a:r>
          </a:p>
        </p:txBody>
      </p:sp>
      <p:sp>
        <p:nvSpPr>
          <p:cNvPr id="3" name="TextBox 2"/>
          <p:cNvSpPr txBox="1"/>
          <p:nvPr/>
        </p:nvSpPr>
        <p:spPr>
          <a:xfrm>
            <a:off x="548640" y="621792"/>
            <a:ext cx="11064240" cy="868680"/>
          </a:xfrm>
          <a:prstGeom prst="rect">
            <a:avLst/>
          </a:prstGeom>
          <a:noFill/>
        </p:spPr>
        <p:txBody>
          <a:bodyPr wrap="square">
            <a:spAutoFit/>
          </a:bodyPr>
          <a:lstStyle/>
          <a:p>
            <a:r>
              <a:rPr lang="pt-BR" sz="3000" b="1" i="0" noProof="0" dirty="0">
                <a:solidFill>
                  <a:srgbClr val="1F3864"/>
                </a:solidFill>
                <a:latin typeface="Cambria"/>
              </a:rPr>
              <a:t>Como aprimorar e aplicar em escala?</a:t>
            </a:r>
          </a:p>
        </p:txBody>
      </p:sp>
      <p:sp>
        <p:nvSpPr>
          <p:cNvPr id="4" name="Rectangle 3"/>
          <p:cNvSpPr/>
          <p:nvPr/>
        </p:nvSpPr>
        <p:spPr>
          <a:xfrm>
            <a:off x="566928" y="1481328"/>
            <a:ext cx="2926080" cy="3175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noProof="0" dirty="0"/>
          </a:p>
        </p:txBody>
      </p:sp>
      <p:sp>
        <p:nvSpPr>
          <p:cNvPr id="5" name="TextBox 4"/>
          <p:cNvSpPr txBox="1"/>
          <p:nvPr/>
        </p:nvSpPr>
        <p:spPr>
          <a:xfrm>
            <a:off x="566928" y="1783080"/>
            <a:ext cx="11064240" cy="3054682"/>
          </a:xfrm>
          <a:prstGeom prst="rect">
            <a:avLst/>
          </a:prstGeom>
          <a:noFill/>
        </p:spPr>
        <p:txBody>
          <a:bodyPr wrap="square">
            <a:spAutoFit/>
          </a:bodyPr>
          <a:lstStyle/>
          <a:p>
            <a:pPr>
              <a:spcBef>
                <a:spcPts val="0"/>
              </a:spcBef>
              <a:spcAft>
                <a:spcPts val="900"/>
              </a:spcAft>
            </a:pPr>
            <a:r>
              <a:rPr lang="pt-BR" sz="1850" b="1" i="0" noProof="0" dirty="0">
                <a:solidFill>
                  <a:srgbClr val="1F3864"/>
                </a:solidFill>
                <a:latin typeface="Calibri"/>
              </a:rPr>
              <a:t>•  Reduzir a </a:t>
            </a:r>
            <a:r>
              <a:rPr lang="pt-BR" sz="1850" b="1" i="0" u="sng" noProof="0" dirty="0" err="1">
                <a:solidFill>
                  <a:srgbClr val="1F3864"/>
                </a:solidFill>
                <a:latin typeface="Calibri"/>
              </a:rPr>
              <a:t>sobre-rotulação</a:t>
            </a:r>
            <a:r>
              <a:rPr lang="pt-BR" sz="1850" b="1" i="0" noProof="0" dirty="0">
                <a:solidFill>
                  <a:srgbClr val="1F3864"/>
                </a:solidFill>
                <a:latin typeface="Calibri"/>
              </a:rPr>
              <a:t> nos discursos:</a:t>
            </a:r>
          </a:p>
          <a:p>
            <a:pPr lvl="1">
              <a:spcBef>
                <a:spcPts val="0"/>
              </a:spcBef>
              <a:spcAft>
                <a:spcPts val="900"/>
              </a:spcAft>
            </a:pPr>
            <a:r>
              <a:rPr lang="pt-BR" sz="1650" b="0" i="0" noProof="0" dirty="0">
                <a:solidFill>
                  <a:srgbClr val="555555"/>
                </a:solidFill>
                <a:latin typeface="Calibri"/>
              </a:rPr>
              <a:t>–  trocar a agregação por máximo por media/ponderada e recalibrar limiares por domínio.</a:t>
            </a:r>
          </a:p>
          <a:p>
            <a:pPr>
              <a:spcBef>
                <a:spcPts val="0"/>
              </a:spcBef>
              <a:spcAft>
                <a:spcPts val="900"/>
              </a:spcAft>
            </a:pPr>
            <a:r>
              <a:rPr lang="pt-BR" sz="1850" b="1" i="0" noProof="0" dirty="0">
                <a:solidFill>
                  <a:srgbClr val="1F3864"/>
                </a:solidFill>
                <a:latin typeface="Calibri"/>
              </a:rPr>
              <a:t>•  Adaptação de domínio:</a:t>
            </a:r>
          </a:p>
          <a:p>
            <a:pPr lvl="1">
              <a:spcBef>
                <a:spcPts val="0"/>
              </a:spcBef>
              <a:spcAft>
                <a:spcPts val="900"/>
              </a:spcAft>
            </a:pPr>
            <a:r>
              <a:rPr lang="pt-BR" sz="1650" b="0" i="0" noProof="0" dirty="0">
                <a:solidFill>
                  <a:srgbClr val="555555"/>
                </a:solidFill>
                <a:latin typeface="Calibri"/>
              </a:rPr>
              <a:t>–  domain-adaptive pretraining (Gururangan et al., 2020) em textos legislativos antes do fine-tuning.</a:t>
            </a:r>
          </a:p>
          <a:p>
            <a:pPr>
              <a:spcBef>
                <a:spcPts val="0"/>
              </a:spcBef>
              <a:spcAft>
                <a:spcPts val="900"/>
              </a:spcAft>
            </a:pPr>
            <a:r>
              <a:rPr lang="pt-BR" sz="1850" b="1" i="0" noProof="0" dirty="0">
                <a:solidFill>
                  <a:srgbClr val="1F3864"/>
                </a:solidFill>
                <a:latin typeface="Calibri"/>
              </a:rPr>
              <a:t>•  Modelos mais recentes:</a:t>
            </a:r>
          </a:p>
          <a:p>
            <a:pPr lvl="1">
              <a:spcBef>
                <a:spcPts val="0"/>
              </a:spcBef>
              <a:spcAft>
                <a:spcPts val="900"/>
              </a:spcAft>
            </a:pPr>
            <a:r>
              <a:rPr lang="pt-BR" sz="1650" b="0" i="0" noProof="0" dirty="0">
                <a:solidFill>
                  <a:srgbClr val="555555"/>
                </a:solidFill>
                <a:latin typeface="Calibri"/>
              </a:rPr>
              <a:t>–  testar Albertina PT-BR (Rodrigues et al., 2023) e comparar com o BERTimbau.</a:t>
            </a:r>
          </a:p>
          <a:p>
            <a:pPr>
              <a:spcBef>
                <a:spcPts val="0"/>
              </a:spcBef>
              <a:spcAft>
                <a:spcPts val="900"/>
              </a:spcAft>
            </a:pPr>
            <a:r>
              <a:rPr lang="pt-BR" sz="1850" b="1" i="0" noProof="0" dirty="0">
                <a:solidFill>
                  <a:srgbClr val="1F3864"/>
                </a:solidFill>
                <a:latin typeface="Calibri"/>
              </a:rPr>
              <a:t>•  Validação e escala:</a:t>
            </a:r>
          </a:p>
          <a:p>
            <a:pPr lvl="1">
              <a:spcBef>
                <a:spcPts val="0"/>
              </a:spcBef>
              <a:spcAft>
                <a:spcPts val="900"/>
              </a:spcAft>
            </a:pPr>
            <a:r>
              <a:rPr lang="pt-BR" sz="1650" b="0" i="0" noProof="0" dirty="0">
                <a:solidFill>
                  <a:srgbClr val="555555"/>
                </a:solidFill>
                <a:latin typeface="Calibri"/>
              </a:rPr>
              <a:t>–  ampliar a validação com anotadores humanos; integrar como apoio ao CEDI e ao portal da Câmara.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1937</Words>
  <Application>Microsoft Office PowerPoint</Application>
  <PresentationFormat>Widescreen</PresentationFormat>
  <Paragraphs>123</Paragraphs>
  <Slides>10</Slides>
  <Notes>10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10</vt:i4>
      </vt:variant>
    </vt:vector>
  </HeadingPairs>
  <TitlesOfParts>
    <vt:vector size="14" baseType="lpstr">
      <vt:lpstr>Arial</vt:lpstr>
      <vt:lpstr>Calibri</vt:lpstr>
      <vt:lpstr>Cambria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VANESSA FAUSTINO</cp:lastModifiedBy>
  <cp:revision>2</cp:revision>
  <dcterms:created xsi:type="dcterms:W3CDTF">2013-01-27T09:14:16Z</dcterms:created>
  <dcterms:modified xsi:type="dcterms:W3CDTF">2026-06-29T04:14:57Z</dcterms:modified>
  <cp:category/>
</cp:coreProperties>
</file>