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F3864"/>
                </a:solidFill>
                <a:latin typeface="Cambria"/>
              </a:rPr>
              <a:t>Classificacao Automatica de Projetos de Lei por Tema com BERTimbau</a:t>
            </a:r>
          </a:p>
          <a:p>
            <a:pPr>
              <a:spcBef>
                <a:spcPts val="600"/>
              </a:spcBef>
            </a:pPr>
            <a:r>
              <a:rPr sz="2200" b="0" i="1">
                <a:solidFill>
                  <a:srgbClr val="555555"/>
                </a:solidFill>
                <a:latin typeface="Cambria"/>
              </a:rPr>
              <a:t>Um estudo de Transfer Learning e Domain Shift no Setor Publico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886200"/>
            <a:ext cx="365760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Aliendres Souto Souza  ·  Gustavo Salvador Ferraz Ferreira  ·  Shenia Rocha Ladeira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Modalidade 2 — Processamento de Linguagem Natural no Setor Publico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Deep Learning e PLN  ·  Mestrado em Ciencia de Dados e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Que problema real resolvemos?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 A Camara dos Deputados recebe milhares de Projetos de Lei (PLs) por ano.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Cada PL precisa ser organizado por tema (Saude, Educacao, Meio Ambiente...) — hoje isso e feito manualmente por especialistas do CEDI.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•  Pergunta de pesquisa: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um modelo consegue ler a ementa de um PL e prever, sozinho, a quais temas ele pertence?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•  E uma tarefa multirrotulo: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um mesmo PL quase sempre trata de varios temas ao mesmo tempo (em media 2,31 temas/PL).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•  Diferencial do trabalho: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aplicar o modelo treinado em ementas tambem aos discursos parlamentares e cruzar o que o deputado "fala" com o que ele "faz".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2 · BASE TEORICA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Quais artigos sustentam o projeto?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•  A tecnica — da contagem de palavras aos Transformers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TF-IDF / bag-of-words (baseline classico) → revisao de Deep Learning em texto (Minaee et al., 2021)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Transformer e mecanismo de atencao (Vaswani et al., 2017) → BERT (Devlin et al., 2019)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Transfer learning / ULMFiT (Howard &amp; Ruder, 2018)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–  BERTimbau — BERT pre-treinado em portugues (Souza, Nogueira &amp; Lotufo, 2020) — modelo adotado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•  O dominio — PLN legislativo e juridico brasileiro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Classificacao de proposicoes por tema (Batista, 2020); corpus Ulysses / UlyssesNER-Br (Albuquerque et al., 2022)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Limite de 512 tokens em textos juridicos longos (Menezes-Neto &amp; Clementino, 2022)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Avaliacao LLM-as-a-judge (Zheng et al., 2023) — usada nos discursos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3 ·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Como os dados foram coletados?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0" i="0">
                <a:solidFill>
                  <a:srgbClr val="222222"/>
                </a:solidFill>
                <a:latin typeface="Calibri"/>
              </a:rPr>
              <a:t>•  Coleta propria via API publica de Dados Abertos da Camara — sem base pronta de terceiros.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Notebook documentado + manifesto com SHA-256 (reprodutibilidade).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0" i="0">
                <a:solidFill>
                  <a:srgbClr val="222222"/>
                </a:solidFill>
                <a:latin typeface="Calibri"/>
              </a:rPr>
              <a:t>•  Recorte 2023–2026, sem teto de quantidade → 19.354 Projetos de Lei.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0" i="0">
                <a:solidFill>
                  <a:srgbClr val="222222"/>
                </a:solidFill>
                <a:latin typeface="Calibri"/>
              </a:rPr>
              <a:t>•  Entrada (X): a ementa (texto curto). Rotulo (y): os 32 temas oficiais do CEDI.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Rotulos vem prontos da API — sem anotacao manual. Em media 2,31 temas por PL (multirrotulo).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0" i="0">
                <a:solidFill>
                  <a:srgbClr val="222222"/>
                </a:solidFill>
                <a:latin typeface="Calibri"/>
              </a:rPr>
              <a:t>•  So a ementa: palavras-chave dariam vazamento (leakage); o PDF integral e caro e dilui o tema.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9B2C2C"/>
                </a:solidFill>
                <a:latin typeface="Calibri"/>
              </a:rPr>
              <a:t>•  Limitacao principal — cauda longa: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28 temas com suporte ≥ 200; 4 raríssimos (Ciencias Exatas = 5, Ciencias Sociais = 11...).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4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Modelos e arquitetura de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•  Baseline (referencia):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TF-IDF (1-2 gramas) + Regressao Logistica one-vs-rest (class_weight balanced).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•  Modelo profundo: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fine-tuning do BERTimbau (bert-base-portuguese-cased).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multi_label_classification: 32 saidas com sigmoide + BCEWithLogitsLoss.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max_length = 192; lr = 5e-5; treino em GPU RTX 3060.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•  Comum aos dois: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rotulos multi-hot (MultiLabelBinarizer); split 70/15/15 estratificado iterativo (seed 42).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–  limiar por tema ajustado na validacao (nao 0,50 fixo).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–  Metrica principal: macro-F1 (2 cortes) + micro-F1.</a:t>
            </a:r>
          </a:p>
        </p:txBody>
      </p:sp>
      <p:pic>
        <p:nvPicPr>
          <p:cNvPr id="6" name="Picture 5" descr="arquitetura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711" y="1645920"/>
            <a:ext cx="3148257" cy="498348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Experimento principal: BERTimbau vs.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188720"/>
                <a:gridCol w="11887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Modelo (limiar ajustado)</a:t>
                      </a:r>
                    </a:p>
                  </a:txBody>
                  <a:tcPr marT="38100" marB="38100" marL="76200" marR="762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macro-F1
(32)</a:t>
                      </a:r>
                    </a:p>
                  </a:txBody>
                  <a:tcPr marT="38100" marB="38100" marL="76200" marR="762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macro-F1
(≥200)</a:t>
                      </a:r>
                    </a:p>
                  </a:txBody>
                  <a:tcPr marT="38100" marB="38100" marL="76200" marR="762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micro-F1</a:t>
                      </a:r>
                    </a:p>
                  </a:txBody>
                  <a:tcPr marT="38100" marB="38100" marL="76200" marR="762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Baseline (limiar 0,50)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0,567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0,650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Baseline TF-IDF + LogReg</a:t>
                      </a:r>
                    </a:p>
                  </a:txBody>
                  <a:tcPr marT="38100" marB="38100" marL="76200" marR="762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0,584</a:t>
                      </a:r>
                    </a:p>
                  </a:txBody>
                  <a:tcPr marT="38100" marB="38100" marL="76200" marR="762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0,639</a:t>
                      </a:r>
                    </a:p>
                  </a:txBody>
                  <a:tcPr marT="38100" marB="38100" marL="76200" marR="762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0,675</a:t>
                      </a:r>
                    </a:p>
                  </a:txBody>
                  <a:tcPr marT="38100" marB="38100" marL="76200" marR="76200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BERTimbau (limiar 0,50)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0,601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0,687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0,724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BERTimbau</a:t>
                      </a:r>
                    </a:p>
                  </a:txBody>
                  <a:tcPr marT="38100" marB="38100" marL="76200" marR="76200" anchor="ctr">
                    <a:solidFill>
                      <a:srgbClr val="DD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0,632</a:t>
                      </a:r>
                    </a:p>
                  </a:txBody>
                  <a:tcPr marT="38100" marB="38100" marL="76200" marR="76200" anchor="ctr">
                    <a:solidFill>
                      <a:srgbClr val="DD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0,700</a:t>
                      </a:r>
                    </a:p>
                  </a:txBody>
                  <a:tcPr marT="38100" marB="38100" marL="76200" marR="76200" anchor="ctr">
                    <a:solidFill>
                      <a:srgbClr val="DD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0,723</a:t>
                      </a:r>
                    </a:p>
                  </a:txBody>
                  <a:tcPr marT="38100" marB="38100" marL="76200" marR="76200" anchor="ctr">
                    <a:solidFill>
                      <a:srgbClr val="DDE6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34340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6B3A"/>
                </a:solidFill>
                <a:latin typeface="Calibri"/>
              </a:rPr>
              <a:t>•  BERTimbau supera o baseline: macro-F1 (≥200) 0,639 → 0,700 (+0,061).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O ajuste de limiar por tema ajuda principalmente o macro-F1.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Baseline e competitivo: ementas sao curtas, formais e ricas em termos indicativos do tema.</a:t>
            </a:r>
          </a:p>
        </p:txBody>
      </p:sp>
      <p:pic>
        <p:nvPicPr>
          <p:cNvPr id="7" name="Picture 6" descr="suporte_por_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177527"/>
            <a:ext cx="4526280" cy="224030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9893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Suporte por tema: verde ≥ 200, vermelho = cauda longa.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Diferencial: domain shift e "fala vs. faz"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Modelo (treinado em ementas) aplicado a 46.683 discursos de 488 deputados, sem novo treino.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55555"/>
                </a:solidFill>
                <a:latin typeface="Calibri"/>
              </a:rPr>
              <a:t>–  Discursos longos → chunking em janelas de 192 tokens, agregando por maximo.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9B2C2C"/>
                </a:solidFill>
                <a:latin typeface="Calibri"/>
              </a:rPr>
              <a:t>•  Domain shift: macro-F1 (≥200) cai de 0,700 (ementas) → 0,569 (discursos).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55555"/>
                </a:solidFill>
                <a:latin typeface="Calibri"/>
              </a:rPr>
              <a:t>–  Sobre-rotulacao: 5,92 temas/discurso previstos vs. 3,43 da referencia (alta revocacao, baixa precisao).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•  "Fala vs. faz": cruzamos agenda discursiva x legislativa por deputado e partido.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55555"/>
                </a:solidFill>
                <a:latin typeface="Calibri"/>
              </a:rPr>
              <a:t>–  Ex.: Pastor Eurico fala muito de cultura/religiao; Altineu Cortes propoe mais em direito penal.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55555"/>
                </a:solidFill>
                <a:latin typeface="Calibri"/>
              </a:rPr>
              <a:t>–  Analise exploratoria e agregada (rotulo de discurso e ruidoso sob domain shift).</a:t>
            </a:r>
          </a:p>
        </p:txBody>
      </p:sp>
      <p:pic>
        <p:nvPicPr>
          <p:cNvPr id="6" name="Picture 5" descr="fala_vs_f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103120"/>
            <a:ext cx="4846320" cy="1585792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086600" y="4983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Agenda discursiva (Y) x legislativa (X) por deputado.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6 · DISCUSSAO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Resolveu o problema? Quais os limites?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E6B3A"/>
                </a:solidFill>
                <a:latin typeface="Calibri"/>
              </a:rPr>
              <a:t>•  Sim, como ferramenta de apoio: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macro-F1 0,700 nos temas bem representados → util para sugerir temas, busca e estatisticas agregadas.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Nao substitui o especialista — uso recomendado com humano no circuito.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9B2C2C"/>
                </a:solidFill>
                <a:latin typeface="Calibri"/>
              </a:rPr>
              <a:t>•  Limites: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cauda longa: 4 temas com pouquissimos exemplos (F1 ~ 0).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subjetividade do proprio rotulo do CEDI (anotadores podem divergir de boa-fe).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domain shift nos discursos: queda de desempenho + sobre-rotulacao.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avaliacao dos discursos por amostra rotulada por LLM (vieses) e cobertura de 88,2% dos autores.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7 · CONCLUSAO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Qual a principal contribuicao?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•  Pipeline completo e reprodutivel para classificacao multirrotulo de PLs: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coleta propria (API) → baseline → fine-tuning do BERTimbau → avaliacao critica.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 BERTimbau supera o baseline (macro-F1 0,700 nos temas ≥200)...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...mas o baseline TF-IDF e competitivo em textos curtos e padronizados como ementas.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•  Principal diferencial: estudo de domain shift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aplicar o modelo a discursos mostrou, na pratica, a perda de desempenho entre dominios.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E habilitou a analise exploratoria "fala vs. faz" da atuacao parlamentar.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4E8A"/>
                </a:solidFill>
                <a:latin typeface="Calibri"/>
              </a:rPr>
              <a:t>8 · PROXIMOS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mbria"/>
              </a:rPr>
              <a:t>Como aprimorar e aplicar em escala?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926080" cy="317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•  Reduzir a sobre-rotulacao nos discursos: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trocar a agregacao por maximo por media/ponderada e recalibrar limiares por dominio.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•  Adaptacao de dominio: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domain-adaptive pretraining (Gururangan et al., 2020) em textos legislativos antes do fine-tuning.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•  Modelos mais recentes: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testar Albertina PT-BR (Rodrigues et al., 2023) e comparar com o BERTimbau.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•  Validacao e escala: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555555"/>
                </a:solidFill>
                <a:latin typeface="Calibri"/>
              </a:rPr>
              <a:t>–  ampliar a validacao com anotadores humanos; integrar como apoio ao CEDI e ao portal da Camara.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